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5" r:id="rId12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CSI score</c:f>
              <c:strCache>
                <c:ptCount val="1"/>
                <c:pt idx="0">
                  <c:v>CSI score</c:v>
                </c:pt>
              </c:strCache>
            </c:strRef>
          </c:tx>
          <c:spPr>
            <a:solidFill>
              <a:srgbClr val="1769D2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A9C8E8"/>
              </a:solidFill>
            </c:spPr>
          </c:dPt>
          <c:dPt>
            <c:idx val="1"/>
            <c:invertIfNegative val="0"/>
            <c:bubble3D val="0"/>
            <c:spPr>
              <a:solidFill>
                <a:srgbClr val="80B4E6"/>
              </a:solidFill>
            </c:spPr>
          </c:dPt>
          <c:dPt>
            <c:idx val="2"/>
            <c:invertIfNegative val="0"/>
            <c:bubble3D val="0"/>
            <c:spPr>
              <a:solidFill>
                <a:srgbClr val="45A6E8"/>
              </a:solidFill>
            </c:spPr>
          </c:dPt>
          <c:dPt>
            <c:idx val="3"/>
            <c:invertIfNegative val="0"/>
            <c:bubble3D val="0"/>
            <c:spPr>
              <a:solidFill>
                <a:srgbClr val="1769D2"/>
              </a:solidFill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{"MSE","Huber","强像素加权","+ Soft CSI"}</c:f>
              <c:strCache>
                <c:ptCount val="4"/>
                <c:pt idx="0">
                  <c:v>MSE</c:v>
                </c:pt>
                <c:pt idx="1">
                  <c:v>Huber</c:v>
                </c:pt>
                <c:pt idx="2">
                  <c:v>强像素加权</c:v>
                </c:pt>
                <c:pt idx="3">
                  <c:v>+ Soft CSI</c:v>
                </c:pt>
              </c:strCache>
            </c:strRef>
          </c:cat>
          <c:val>
            <c:numRef>
              <c:f>{0.331,0.381,0.531,0.61}</c:f>
              <c:numCache>
                <c:formatCode>0.000</c:formatCode>
                <c:ptCount val="4"/>
                <c:pt idx="0">
                  <c:v>0.331</c:v>
                </c:pt>
                <c:pt idx="1">
                  <c:v>0.381</c:v>
                </c:pt>
                <c:pt idx="2">
                  <c:v>0.531</c:v>
                </c:pt>
                <c:pt idx="3">
                  <c:v>0.61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E5F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5F7185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0.7"/>
          <c:min val="0"/>
        </c:scaling>
        <c:delete val="0"/>
        <c:axPos val="l"/>
        <c:majorGridlines>
          <c:spPr>
            <a:ln w="9525">
              <a:solidFill>
                <a:srgbClr val="D9E5F0"/>
              </a:solidFill>
              <a:prstDash val="solid"/>
              <a:round/>
            </a:ln>
          </c:spPr>
        </c:majorGridlines>
        <c:numFmt formatCode="0.0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rgbClr val="5F7185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  <c:majorUnit val="0.1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680d5697-3e3f-4abb-9728-f593b4d7605b}"/>
      </c:ext>
    </c:extLst>
  </c:chart>
  <c:spPr>
    <a:solidFill>
      <a:srgbClr val="FFFFFF"/>
    </a:solidFill>
    <a:ln w="0">
      <a:solidFill>
        <a:srgbClr val="FFFFFF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SimVP R3</c:f>
              <c:strCache>
                <c:ptCount val="1"/>
                <c:pt idx="0">
                  <c:v>SimVP R3</c:v>
                </c:pt>
              </c:strCache>
            </c:strRef>
          </c:tx>
          <c:spPr>
            <a:solidFill>
              <a:srgbClr val="9ABFE2"/>
            </a:solidFill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{"0–1h CSI16","0–1h CSI32","1–2h CSI16","1–2h CSI32"}</c:f>
              <c:strCache>
                <c:ptCount val="4"/>
                <c:pt idx="0">
                  <c:v>0–1h CSI16</c:v>
                </c:pt>
                <c:pt idx="1">
                  <c:v>0–1h CSI32</c:v>
                </c:pt>
                <c:pt idx="2">
                  <c:v>1–2h CSI16</c:v>
                </c:pt>
                <c:pt idx="3">
                  <c:v>1–2h CSI32</c:v>
                </c:pt>
              </c:strCache>
            </c:strRef>
          </c:cat>
          <c:val>
            <c:numRef>
              <c:f>{0.3122,0.2258,0.1084,0.0339}</c:f>
              <c:numCache>
                <c:formatCode>0.000</c:formatCode>
                <c:ptCount val="4"/>
                <c:pt idx="0">
                  <c:v>0.3122</c:v>
                </c:pt>
                <c:pt idx="1">
                  <c:v>0.2258</c:v>
                </c:pt>
                <c:pt idx="2">
                  <c:v>0.1084</c:v>
                </c:pt>
                <c:pt idx="3">
                  <c:v>0.0339</c:v>
                </c:pt>
              </c:numCache>
            </c:numRef>
          </c:val>
        </c:ser>
        <c:ser>
          <c:idx val="1"/>
          <c:order val="1"/>
          <c:tx>
            <c:strRef>
              <c:f>ConvLSTM 0.788</c:f>
              <c:strCache>
                <c:ptCount val="1"/>
                <c:pt idx="0">
                  <c:v>ConvLSTM 0.788</c:v>
                </c:pt>
              </c:strCache>
            </c:strRef>
          </c:tx>
          <c:spPr>
            <a:solidFill>
              <a:srgbClr val="1769D2"/>
            </a:solidFill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{"0–1h CSI16","0–1h CSI32","1–2h CSI16","1–2h CSI32"}</c:f>
              <c:strCache>
                <c:ptCount val="4"/>
                <c:pt idx="0">
                  <c:v>0–1h CSI16</c:v>
                </c:pt>
                <c:pt idx="1">
                  <c:v>0–1h CSI32</c:v>
                </c:pt>
                <c:pt idx="2">
                  <c:v>1–2h CSI16</c:v>
                </c:pt>
                <c:pt idx="3">
                  <c:v>1–2h CSI32</c:v>
                </c:pt>
              </c:strCache>
            </c:strRef>
          </c:cat>
          <c:val>
            <c:numRef>
              <c:f>{0.3347,0.235,0.1098,0.0544}</c:f>
              <c:numCache>
                <c:formatCode>0.000</c:formatCode>
                <c:ptCount val="4"/>
                <c:pt idx="0">
                  <c:v>0.3347</c:v>
                </c:pt>
                <c:pt idx="1">
                  <c:v>0.235</c:v>
                </c:pt>
                <c:pt idx="2">
                  <c:v>0.1098</c:v>
                </c:pt>
                <c:pt idx="3">
                  <c:v>0.0544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rgbClr val="5F7185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0.4"/>
          <c:min val="0"/>
        </c:scaling>
        <c:delete val="0"/>
        <c:axPos val="l"/>
        <c:majorGridlines>
          <c:spPr>
            <a:ln w="9525">
              <a:solidFill>
                <a:srgbClr val="D9E5F0"/>
              </a:solidFill>
              <a:prstDash val="solid"/>
              <a:round/>
            </a:ln>
          </c:spPr>
        </c:majorGridlines>
        <c:numFmt formatCode="0.0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5F7185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  <c:majorUnit val="0.1"/>
      </c:valAx>
      <c:spPr>
        <a:solidFill>
          <a:srgbClr val="FFFFFF"/>
        </a:solidFill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50" b="0" i="0" u="none" strike="noStrike" kern="1200" baseline="0">
              <a:solidFill>
                <a:srgbClr val="5F7185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c1846157-fc0e-43d6-a7f0-14665fabf3c1}"/>
      </c:ext>
    </c:extLst>
  </c:chart>
  <c:spPr>
    <a:solidFill>
      <a:srgbClr val="FFFFFF"/>
    </a:solidFill>
    <a:ln w="0">
      <a:solidFill>
        <a:srgbClr val="FFFFFF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Internal project records: .research/run_log.md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.research/run_log.md</a:t>
            </a:r>
          </a:p>
          <a:p>
            <a:r>
              <a:t>.research/project_manifest.yml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docs/bth_radar_evaluation.md</a:t>
            </a:r>
          </a:p>
          <a:p>
            <a:r>
              <a:t>.research/history/r1_5ep_results.md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.research/history/r2_ablation_results.md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.research/history/r3_selected_epoch03_analysis.md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.research/history/convlstm_r2d_ft_checkpoint_analysis.md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.research/history/r4b_motion_pre0788_5ep_analysis.md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.research/history/r4b_flow_scale_persistent_object_diagnostic.md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.research/run_log.md</a:t>
            </a:r>
          </a:p>
          <a:p>
            <a:r>
              <a:t>.research/open_questions.md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矩形 13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9FD"/>
          </a:solidFill>
          <a:ln w="0">
            <a:solidFill>
              <a:srgbClr val="F5F9FD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304800" cy="6858000"/>
          </a:xfrm>
          <a:prstGeom prst="rect">
            <a:avLst/>
          </a:prstGeom>
          <a:solidFill>
            <a:srgbClr val="1769D2"/>
          </a:solidFill>
          <a:ln w="0">
            <a:solidFill>
              <a:srgbClr val="1769D2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8191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769D2"/>
                </a:solidFill>
              </a:defRPr>
            </a:pPr>
            <a:r>
              <a:rPr sz="1200" b="1">
                <a:solidFill>
                  <a:srgbClr val="1769D2"/>
                </a:solidFill>
              </a:rPr>
              <a:t>OPENSTL · WEEKLY PROGRESS</a:t>
            </a:r>
            <a:endParaRPr sz="1200" b="1">
              <a:solidFill>
                <a:srgbClr val="1769D2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38200" y="1524000"/>
            <a:ext cx="6572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900" b="1">
                <a:solidFill>
                  <a:srgbClr val="0B2A4A"/>
                </a:solidFill>
              </a:defRPr>
            </a:pPr>
            <a:r>
              <a:rPr sz="3900" b="1">
                <a:solidFill>
                  <a:srgbClr val="0B2A4A"/>
                </a:solidFill>
              </a:rPr>
              <a:t>雷达降水临近预报</a:t>
            </a:r>
            <a:endParaRPr sz="3900" b="1">
              <a:solidFill>
                <a:srgbClr val="0B2A4A"/>
              </a:solidFill>
            </a:endParaRPr>
          </a:p>
          <a:p>
            <a:pPr algn="l">
              <a:defRPr sz="3900" b="1">
                <a:solidFill>
                  <a:srgbClr val="0B2A4A"/>
                </a:solidFill>
              </a:defRPr>
            </a:pPr>
            <a:r>
              <a:rPr sz="3900" b="1">
                <a:solidFill>
                  <a:srgbClr val="0B2A4A"/>
                </a:solidFill>
              </a:rPr>
              <a:t>周进展</a:t>
            </a:r>
            <a:endParaRPr sz="3900" b="1">
              <a:solidFill>
                <a:srgbClr val="0B2A4A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38200" y="3219450"/>
            <a:ext cx="1028700" cy="57150"/>
          </a:xfrm>
          <a:prstGeom prst="rect">
            <a:avLst/>
          </a:prstGeom>
          <a:solidFill>
            <a:srgbClr val="1769D2"/>
          </a:solidFill>
          <a:ln w="0">
            <a:solidFill>
              <a:srgbClr val="1769D2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38200" y="3543300"/>
            <a:ext cx="666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0">
                <a:solidFill>
                  <a:srgbClr val="5F7185"/>
                </a:solidFill>
              </a:defRPr>
            </a:pPr>
            <a:r>
              <a:rPr sz="1725" b="0">
                <a:solidFill>
                  <a:srgbClr val="5F7185"/>
                </a:solidFill>
              </a:rPr>
              <a:t>从强降水评估基线到显式运动建模诊断</a:t>
            </a:r>
            <a:endParaRPr sz="1725" b="0">
              <a:solidFill>
                <a:srgbClr val="5F7185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38200" y="521970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0B2A4A"/>
                </a:solidFill>
              </a:defRPr>
            </a:pPr>
            <a:r>
              <a:rPr sz="1350" b="1">
                <a:solidFill>
                  <a:srgbClr val="0B2A4A"/>
                </a:solidFill>
              </a:rPr>
              <a:t>2026.07.29 — 2026.08.02</a:t>
            </a:r>
            <a:endParaRPr sz="1350" b="1">
              <a:solidFill>
                <a:srgbClr val="0B2A4A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38200" y="5562600"/>
            <a:ext cx="571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5F7185"/>
                </a:solidFill>
              </a:defRPr>
            </a:pPr>
            <a:r>
              <a:rPr sz="1125" b="0">
                <a:solidFill>
                  <a:srgbClr val="5F7185"/>
                </a:solidFill>
              </a:rPr>
              <a:t>BTH Radar · SimVP · ConvLSTM · Motion Evolution</a:t>
            </a:r>
            <a:endParaRPr sz="1125" b="0">
              <a:solidFill>
                <a:srgbClr val="5F7185"/>
              </a:solidFill>
            </a:endParaRPr>
          </a:p>
        </p:txBody>
      </p:sp>
      <p:sp>
        <p:nvSpPr>
          <p:cNvPr id="9" name="弧形 8"/>
          <p:cNvSpPr>
            <a:spLocks noGrp="1"/>
          </p:cNvSpPr>
          <p:nvPr/>
        </p:nvSpPr>
        <p:spPr>
          <a:xfrm>
            <a:off x="7905750" y="1295400"/>
            <a:ext cx="2952750" cy="2952750"/>
          </a:xfrm>
          <a:prstGeom prst="arc">
            <a:avLst/>
          </a:prstGeom>
          <a:noFill/>
          <a:ln w="28575">
            <a:solidFill>
              <a:srgbClr val="1769D2"/>
            </a:solidFill>
            <a:prstDash val="solid"/>
          </a:ln>
        </p:spPr>
      </p:sp>
      <p:sp>
        <p:nvSpPr>
          <p:cNvPr id="10" name="弧形 9"/>
          <p:cNvSpPr>
            <a:spLocks noGrp="1"/>
          </p:cNvSpPr>
          <p:nvPr/>
        </p:nvSpPr>
        <p:spPr>
          <a:xfrm>
            <a:off x="8362950" y="1752600"/>
            <a:ext cx="2495550" cy="2495550"/>
          </a:xfrm>
          <a:prstGeom prst="arc">
            <a:avLst/>
          </a:prstGeom>
          <a:noFill/>
          <a:ln w="28575">
            <a:solidFill>
              <a:srgbClr val="45A6E8"/>
            </a:solidFill>
            <a:prstDash val="solid"/>
          </a:ln>
        </p:spPr>
      </p:sp>
      <p:sp>
        <p:nvSpPr>
          <p:cNvPr id="11" name="弧形 10"/>
          <p:cNvSpPr>
            <a:spLocks noGrp="1"/>
          </p:cNvSpPr>
          <p:nvPr/>
        </p:nvSpPr>
        <p:spPr>
          <a:xfrm>
            <a:off x="8820150" y="2209800"/>
            <a:ext cx="2038350" cy="2038350"/>
          </a:xfrm>
          <a:prstGeom prst="arc">
            <a:avLst/>
          </a:prstGeom>
          <a:noFill/>
          <a:ln w="28575">
            <a:solidFill>
              <a:srgbClr val="1769D2"/>
            </a:solidFill>
            <a:prstDash val="solid"/>
          </a:ln>
        </p:spPr>
      </p:sp>
      <p:sp>
        <p:nvSpPr>
          <p:cNvPr id="12" name="弧形 11"/>
          <p:cNvSpPr>
            <a:spLocks noGrp="1"/>
          </p:cNvSpPr>
          <p:nvPr/>
        </p:nvSpPr>
        <p:spPr>
          <a:xfrm>
            <a:off x="9277350" y="2667000"/>
            <a:ext cx="1581150" cy="1581150"/>
          </a:xfrm>
          <a:prstGeom prst="arc">
            <a:avLst/>
          </a:prstGeom>
          <a:noFill/>
          <a:ln w="28575">
            <a:solidFill>
              <a:srgbClr val="45A6E8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1049000" y="64770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8292A4"/>
                </a:solidFill>
              </a:defRPr>
            </a:pPr>
            <a:r>
              <a:rPr sz="900" b="1">
                <a:solidFill>
                  <a:srgbClr val="8292A4"/>
                </a:solidFill>
              </a:rPr>
              <a:t>01</a:t>
            </a:r>
            <a:endParaRPr sz="900" b="1">
              <a:solidFill>
                <a:srgbClr val="8292A4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矩形 29"/>
          <p:cNvSpPr>
            <a:spLocks noGrp="1"/>
          </p:cNvSpPr>
          <p:nvPr/>
        </p:nvSpPr>
        <p:spPr>
          <a:xfrm>
            <a:off x="685800" y="3238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769D2"/>
                </a:solidFill>
              </a:defRPr>
            </a:pPr>
            <a:r>
              <a:rPr sz="1125" b="1">
                <a:solidFill>
                  <a:srgbClr val="1769D2"/>
                </a:solidFill>
              </a:rPr>
              <a:t>01 · 本周全景</a:t>
            </a:r>
            <a:endParaRPr sz="1125" b="1">
              <a:solidFill>
                <a:srgbClr val="1769D2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62865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0B2A4A"/>
                </a:solidFill>
              </a:defRPr>
            </a:pPr>
            <a:r>
              <a:rPr sz="2550" b="1">
                <a:solidFill>
                  <a:srgbClr val="0B2A4A"/>
                </a:solidFill>
              </a:rPr>
              <a:t>本周完成了从数据协议到运动诊断的闭环</a:t>
            </a:r>
            <a:endParaRPr sz="2550" b="1">
              <a:solidFill>
                <a:srgbClr val="0B2A4A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295400"/>
            <a:ext cx="628650" cy="47625"/>
          </a:xfrm>
          <a:prstGeom prst="rect">
            <a:avLst/>
          </a:prstGeom>
          <a:solidFill>
            <a:srgbClr val="1769D2"/>
          </a:solidFill>
          <a:ln w="0">
            <a:solidFill>
              <a:srgbClr val="1769D2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6477000"/>
            <a:ext cx="457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0">
                <a:solidFill>
                  <a:srgbClr val="8292A4"/>
                </a:solidFill>
              </a:defRPr>
            </a:pPr>
            <a:r>
              <a:rPr sz="900" b="0">
                <a:solidFill>
                  <a:srgbClr val="8292A4"/>
                </a:solidFill>
              </a:rPr>
              <a:t>WEEKLY OVERVIEW</a:t>
            </a:r>
            <a:endParaRPr sz="900" b="0">
              <a:solidFill>
                <a:srgbClr val="8292A4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64770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8292A4"/>
                </a:solidFill>
              </a:defRPr>
            </a:pPr>
            <a:r>
              <a:rPr sz="900" b="1">
                <a:solidFill>
                  <a:srgbClr val="8292A4"/>
                </a:solidFill>
              </a:rPr>
              <a:t>02</a:t>
            </a:r>
            <a:endParaRPr sz="900" b="1">
              <a:solidFill>
                <a:srgbClr val="8292A4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200150" y="3000375"/>
            <a:ext cx="9334500" cy="38100"/>
          </a:xfrm>
          <a:prstGeom prst="rect">
            <a:avLst/>
          </a:prstGeom>
          <a:solidFill>
            <a:srgbClr val="D9E5F0"/>
          </a:solidFill>
          <a:ln w="0">
            <a:solidFill>
              <a:srgbClr val="D9E5F0"/>
            </a:solidFill>
            <a:prstDash val="solid"/>
          </a:ln>
        </p:spPr>
      </p:sp>
      <p:sp>
        <p:nvSpPr>
          <p:cNvPr id="7" name="椭圆 6"/>
          <p:cNvSpPr>
            <a:spLocks noGrp="1"/>
          </p:cNvSpPr>
          <p:nvPr/>
        </p:nvSpPr>
        <p:spPr>
          <a:xfrm>
            <a:off x="1276350" y="2667000"/>
            <a:ext cx="323850" cy="3238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769D2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276350" y="26670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769D2"/>
                </a:solidFill>
              </a:defRPr>
            </a:pPr>
            <a:r>
              <a:rPr sz="1125" b="1">
                <a:solidFill>
                  <a:srgbClr val="1769D2"/>
                </a:solidFill>
              </a:rPr>
              <a:t>1</a:t>
            </a:r>
            <a:endParaRPr sz="1125" b="1">
              <a:solidFill>
                <a:srgbClr val="1769D2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3257550"/>
            <a:ext cx="1504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0B2A4A"/>
                </a:solidFill>
              </a:defRPr>
            </a:pPr>
            <a:r>
              <a:rPr sz="1425" b="1">
                <a:solidFill>
                  <a:srgbClr val="0B2A4A"/>
                </a:solidFill>
              </a:rPr>
              <a:t>协议固化</a:t>
            </a:r>
            <a:endParaRPr sz="1425" b="1">
              <a:solidFill>
                <a:srgbClr val="0B2A4A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85800" y="3638550"/>
            <a:ext cx="15049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5F7185"/>
                </a:solidFill>
              </a:defRPr>
            </a:pPr>
            <a:r>
              <a:rPr sz="1200" b="0">
                <a:solidFill>
                  <a:srgbClr val="5F7185"/>
                </a:solidFill>
              </a:rPr>
              <a:t>4 事件</a:t>
            </a:r>
            <a:endParaRPr sz="1200" b="0">
              <a:solidFill>
                <a:srgbClr val="5F7185"/>
              </a:solidFill>
            </a:endParaRPr>
          </a:p>
          <a:p>
            <a:pPr algn="ctr">
              <a:defRPr sz="1200" b="0">
                <a:solidFill>
                  <a:srgbClr val="5F7185"/>
                </a:solidFill>
              </a:defRPr>
            </a:pPr>
            <a:r>
              <a:rPr sz="1200" b="0">
                <a:solidFill>
                  <a:srgbClr val="5F7185"/>
                </a:solidFill>
              </a:rPr>
              <a:t>932 窗口</a:t>
            </a:r>
            <a:endParaRPr sz="1200" b="0">
              <a:solidFill>
                <a:srgbClr val="5F7185"/>
              </a:solidFill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3448050" y="2667000"/>
            <a:ext cx="323850" cy="3238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769D2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448050" y="26670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769D2"/>
                </a:solidFill>
              </a:defRPr>
            </a:pPr>
            <a:r>
              <a:rPr sz="1125" b="1">
                <a:solidFill>
                  <a:srgbClr val="1769D2"/>
                </a:solidFill>
              </a:rPr>
              <a:t>2</a:t>
            </a:r>
            <a:endParaRPr sz="1125" b="1">
              <a:solidFill>
                <a:srgbClr val="1769D2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857500" y="3257550"/>
            <a:ext cx="1504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0B2A4A"/>
                </a:solidFill>
              </a:defRPr>
            </a:pPr>
            <a:r>
              <a:rPr sz="1425" b="1">
                <a:solidFill>
                  <a:srgbClr val="0B2A4A"/>
                </a:solidFill>
              </a:rPr>
              <a:t>评估升级</a:t>
            </a:r>
            <a:endParaRPr sz="1425" b="1">
              <a:solidFill>
                <a:srgbClr val="0B2A4A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857500" y="3638550"/>
            <a:ext cx="15049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5F7185"/>
                </a:solidFill>
              </a:defRPr>
            </a:pPr>
            <a:r>
              <a:rPr sz="1200" b="0">
                <a:solidFill>
                  <a:srgbClr val="5F7185"/>
                </a:solidFill>
              </a:rPr>
              <a:t>降水 + 空间</a:t>
            </a:r>
            <a:endParaRPr sz="1200" b="0">
              <a:solidFill>
                <a:srgbClr val="5F7185"/>
              </a:solidFill>
            </a:endParaRPr>
          </a:p>
          <a:p>
            <a:pPr algn="ctr">
              <a:defRPr sz="1200" b="0">
                <a:solidFill>
                  <a:srgbClr val="5F7185"/>
                </a:solidFill>
              </a:defRPr>
            </a:pPr>
            <a:r>
              <a:rPr sz="1200" b="0">
                <a:solidFill>
                  <a:srgbClr val="5F7185"/>
                </a:solidFill>
              </a:rPr>
              <a:t>对象 + 事件</a:t>
            </a:r>
            <a:endParaRPr sz="1200" b="0">
              <a:solidFill>
                <a:srgbClr val="5F7185"/>
              </a:solidFill>
            </a:endParaRP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5619750" y="2667000"/>
            <a:ext cx="323850" cy="3238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769D2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5619750" y="26670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769D2"/>
                </a:solidFill>
              </a:defRPr>
            </a:pPr>
            <a:r>
              <a:rPr sz="1125" b="1">
                <a:solidFill>
                  <a:srgbClr val="1769D2"/>
                </a:solidFill>
              </a:rPr>
              <a:t>3</a:t>
            </a:r>
            <a:endParaRPr sz="1125" b="1">
              <a:solidFill>
                <a:srgbClr val="1769D2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029200" y="3257550"/>
            <a:ext cx="1504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0B2A4A"/>
                </a:solidFill>
              </a:defRPr>
            </a:pPr>
            <a:r>
              <a:rPr sz="1425" b="1">
                <a:solidFill>
                  <a:srgbClr val="0B2A4A"/>
                </a:solidFill>
              </a:rPr>
              <a:t>损失消融</a:t>
            </a:r>
            <a:endParaRPr sz="1425" b="1">
              <a:solidFill>
                <a:srgbClr val="0B2A4A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029200" y="3638550"/>
            <a:ext cx="15049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5F7185"/>
                </a:solidFill>
              </a:defRPr>
            </a:pPr>
            <a:r>
              <a:rPr sz="1200" b="0">
                <a:solidFill>
                  <a:srgbClr val="5F7185"/>
                </a:solidFill>
              </a:rPr>
              <a:t>MSE → Soft CSI</a:t>
            </a:r>
            <a:endParaRPr sz="1200" b="0">
              <a:solidFill>
                <a:srgbClr val="5F7185"/>
              </a:solidFill>
            </a:endParaRPr>
          </a:p>
        </p:txBody>
      </p:sp>
      <p:sp>
        <p:nvSpPr>
          <p:cNvPr id="19" name="椭圆 18"/>
          <p:cNvSpPr>
            <a:spLocks noGrp="1"/>
          </p:cNvSpPr>
          <p:nvPr/>
        </p:nvSpPr>
        <p:spPr>
          <a:xfrm>
            <a:off x="7791450" y="2667000"/>
            <a:ext cx="323850" cy="3238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769D2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791450" y="26670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769D2"/>
                </a:solidFill>
              </a:defRPr>
            </a:pPr>
            <a:r>
              <a:rPr sz="1125" b="1">
                <a:solidFill>
                  <a:srgbClr val="1769D2"/>
                </a:solidFill>
              </a:rPr>
              <a:t>4</a:t>
            </a:r>
            <a:endParaRPr sz="1125" b="1">
              <a:solidFill>
                <a:srgbClr val="1769D2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200900" y="3257550"/>
            <a:ext cx="1504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0B2A4A"/>
                </a:solidFill>
              </a:defRPr>
            </a:pPr>
            <a:r>
              <a:rPr sz="1425" b="1">
                <a:solidFill>
                  <a:srgbClr val="0B2A4A"/>
                </a:solidFill>
              </a:rPr>
              <a:t>基线对比</a:t>
            </a:r>
            <a:endParaRPr sz="1425" b="1">
              <a:solidFill>
                <a:srgbClr val="0B2A4A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200900" y="3638550"/>
            <a:ext cx="15049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5F7185"/>
                </a:solidFill>
              </a:defRPr>
            </a:pPr>
            <a:r>
              <a:rPr sz="1200" b="0">
                <a:solidFill>
                  <a:srgbClr val="5F7185"/>
                </a:solidFill>
              </a:rPr>
              <a:t>SimVP / ConvLSTM</a:t>
            </a:r>
            <a:endParaRPr sz="1200" b="0">
              <a:solidFill>
                <a:srgbClr val="5F7185"/>
              </a:solidFill>
            </a:endParaRP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9963150" y="2667000"/>
            <a:ext cx="323850" cy="323850"/>
          </a:xfrm>
          <a:prstGeom prst="ellipse">
            <a:avLst/>
          </a:prstGeom>
          <a:solidFill>
            <a:srgbClr val="1769D2"/>
          </a:solidFill>
          <a:ln w="28575">
            <a:solidFill>
              <a:srgbClr val="1769D2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9963150" y="26670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  <a:endParaRPr sz="1125" b="1">
              <a:solidFill>
                <a:srgbClr val="FFFFFF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372600" y="3257550"/>
            <a:ext cx="1504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0B2A4A"/>
                </a:solidFill>
              </a:defRPr>
            </a:pPr>
            <a:r>
              <a:rPr sz="1425" b="1">
                <a:solidFill>
                  <a:srgbClr val="0B2A4A"/>
                </a:solidFill>
              </a:rPr>
              <a:t>运动诊断</a:t>
            </a:r>
            <a:endParaRPr sz="1425" b="1">
              <a:solidFill>
                <a:srgbClr val="0B2A4A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372600" y="3638550"/>
            <a:ext cx="15049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5F7185"/>
                </a:solidFill>
              </a:defRPr>
            </a:pPr>
            <a:r>
              <a:rPr sz="1200" b="0">
                <a:solidFill>
                  <a:srgbClr val="5F7185"/>
                </a:solidFill>
              </a:rPr>
              <a:t>方向 · 尺度</a:t>
            </a:r>
            <a:endParaRPr sz="1200" b="0">
              <a:solidFill>
                <a:srgbClr val="5F7185"/>
              </a:solidFill>
            </a:endParaRPr>
          </a:p>
          <a:p>
            <a:pPr algn="ctr">
              <a:defRPr sz="1200" b="0">
                <a:solidFill>
                  <a:srgbClr val="5F7185"/>
                </a:solidFill>
              </a:defRPr>
            </a:pPr>
            <a:r>
              <a:rPr sz="1200" b="0">
                <a:solidFill>
                  <a:srgbClr val="5F7185"/>
                </a:solidFill>
              </a:rPr>
              <a:t>门控</a:t>
            </a:r>
            <a:endParaRPr sz="1200" b="0">
              <a:solidFill>
                <a:srgbClr val="5F7185"/>
              </a:solidFill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1352550" y="4819650"/>
            <a:ext cx="9486900" cy="914400"/>
          </a:xfrm>
          <a:prstGeom prst="roundRect">
            <a:avLst>
              <a:gd name="adj" fmla="val 12500"/>
            </a:avLst>
          </a:prstGeom>
          <a:solidFill>
            <a:srgbClr val="EAF4FF"/>
          </a:solidFill>
          <a:ln w="0">
            <a:solidFill>
              <a:srgbClr val="EAF4FF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1619250" y="501015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769D2"/>
                </a:solidFill>
              </a:defRPr>
            </a:pPr>
            <a:r>
              <a:rPr sz="1350" b="1">
                <a:solidFill>
                  <a:srgbClr val="1769D2"/>
                </a:solidFill>
              </a:rPr>
              <a:t>核心进展</a:t>
            </a:r>
            <a:endParaRPr sz="1350" b="1">
              <a:solidFill>
                <a:srgbClr val="1769D2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2895600" y="4914900"/>
            <a:ext cx="752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0B2A4A"/>
                </a:solidFill>
              </a:defRPr>
            </a:pPr>
            <a:r>
              <a:rPr sz="1800" b="1">
                <a:solidFill>
                  <a:srgbClr val="0B2A4A"/>
                </a:solidFill>
              </a:rPr>
              <a:t>已定位下一阶段瓶颈：不是“有没有运动信号”，而是“何时、何处、以多大幅度移动”。</a:t>
            </a:r>
            <a:endParaRPr sz="1800" b="1">
              <a:solidFill>
                <a:srgbClr val="0B2A4A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" name="矩形 28"/>
          <p:cNvSpPr>
            <a:spLocks noGrp="1"/>
          </p:cNvSpPr>
          <p:nvPr/>
        </p:nvSpPr>
        <p:spPr>
          <a:xfrm>
            <a:off x="685800" y="3238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769D2"/>
                </a:solidFill>
              </a:defRPr>
            </a:pPr>
            <a:r>
              <a:rPr sz="1125" b="1">
                <a:solidFill>
                  <a:srgbClr val="1769D2"/>
                </a:solidFill>
              </a:rPr>
              <a:t>02 · 评价体系</a:t>
            </a:r>
            <a:endParaRPr sz="1125" b="1">
              <a:solidFill>
                <a:srgbClr val="1769D2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62865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0B2A4A"/>
                </a:solidFill>
              </a:defRPr>
            </a:pPr>
            <a:r>
              <a:rPr sz="2550" b="1">
                <a:solidFill>
                  <a:srgbClr val="0B2A4A"/>
                </a:solidFill>
              </a:rPr>
              <a:t>最低像素误差，并不等于最佳强降水预报</a:t>
            </a:r>
            <a:endParaRPr sz="2550" b="1">
              <a:solidFill>
                <a:srgbClr val="0B2A4A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295400"/>
            <a:ext cx="628650" cy="47625"/>
          </a:xfrm>
          <a:prstGeom prst="rect">
            <a:avLst/>
          </a:prstGeom>
          <a:solidFill>
            <a:srgbClr val="1769D2"/>
          </a:solidFill>
          <a:ln w="0">
            <a:solidFill>
              <a:srgbClr val="1769D2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6477000"/>
            <a:ext cx="457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0">
                <a:solidFill>
                  <a:srgbClr val="8292A4"/>
                </a:solidFill>
              </a:defRPr>
            </a:pPr>
            <a:r>
              <a:rPr sz="900" b="0">
                <a:solidFill>
                  <a:srgbClr val="8292A4"/>
                </a:solidFill>
              </a:rPr>
              <a:t>EVALUATION</a:t>
            </a:r>
            <a:endParaRPr sz="900" b="0">
              <a:solidFill>
                <a:srgbClr val="8292A4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64770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8292A4"/>
                </a:solidFill>
              </a:defRPr>
            </a:pPr>
            <a:r>
              <a:rPr sz="900" b="1">
                <a:solidFill>
                  <a:srgbClr val="8292A4"/>
                </a:solidFill>
              </a:rPr>
              <a:t>03</a:t>
            </a:r>
            <a:endParaRPr sz="900" b="1">
              <a:solidFill>
                <a:srgbClr val="8292A4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16954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769D2"/>
                </a:solidFill>
              </a:defRPr>
            </a:pPr>
            <a:r>
              <a:rPr sz="1500" b="1">
                <a:solidFill>
                  <a:srgbClr val="1769D2"/>
                </a:solidFill>
              </a:rPr>
              <a:t>统一协议</a:t>
            </a:r>
            <a:endParaRPr sz="1500" b="1">
              <a:solidFill>
                <a:srgbClr val="1769D2"/>
              </a:solidFill>
            </a:endParaRPr>
          </a:p>
        </p:txBody>
      </p:sp>
      <p:sp>
        <p:nvSpPr>
          <p:cNvPr id="7" name="椭圆 6"/>
          <p:cNvSpPr>
            <a:spLocks noGrp="1"/>
          </p:cNvSpPr>
          <p:nvPr/>
        </p:nvSpPr>
        <p:spPr>
          <a:xfrm>
            <a:off x="685800" y="2200275"/>
            <a:ext cx="76200" cy="76200"/>
          </a:xfrm>
          <a:prstGeom prst="ellipse">
            <a:avLst/>
          </a:prstGeom>
          <a:solidFill>
            <a:srgbClr val="1769D2"/>
          </a:solidFill>
          <a:ln w="0">
            <a:solidFill>
              <a:srgbClr val="1769D2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76300" y="2095500"/>
            <a:ext cx="428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32238"/>
                </a:solidFill>
              </a:defRPr>
            </a:pPr>
            <a:r>
              <a:rPr sz="1500" b="0">
                <a:solidFill>
                  <a:srgbClr val="132238"/>
                </a:solidFill>
              </a:rPr>
              <a:t>10 帧历史输入 → 20 帧递归预测</a:t>
            </a:r>
            <a:endParaRPr sz="1500" b="0">
              <a:solidFill>
                <a:srgbClr val="132238"/>
              </a:solidFill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685800" y="2657475"/>
            <a:ext cx="76200" cy="76200"/>
          </a:xfrm>
          <a:prstGeom prst="ellipse">
            <a:avLst/>
          </a:prstGeom>
          <a:solidFill>
            <a:srgbClr val="1769D2"/>
          </a:solidFill>
          <a:ln w="0">
            <a:solidFill>
              <a:srgbClr val="1769D2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76300" y="2552700"/>
            <a:ext cx="428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32238"/>
                </a:solidFill>
              </a:defRPr>
            </a:pPr>
            <a:r>
              <a:rPr sz="1500" b="0">
                <a:solidFill>
                  <a:srgbClr val="132238"/>
                </a:solidFill>
              </a:rPr>
              <a:t>0–1 h / 1–2 h 分时段评估</a:t>
            </a:r>
            <a:endParaRPr sz="1500" b="0">
              <a:solidFill>
                <a:srgbClr val="132238"/>
              </a:solidFill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685800" y="3114675"/>
            <a:ext cx="76200" cy="76200"/>
          </a:xfrm>
          <a:prstGeom prst="ellipse">
            <a:avLst/>
          </a:prstGeom>
          <a:solidFill>
            <a:srgbClr val="1769D2"/>
          </a:solidFill>
          <a:ln w="0">
            <a:solidFill>
              <a:srgbClr val="1769D2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76300" y="3009900"/>
            <a:ext cx="428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32238"/>
                </a:solidFill>
              </a:defRPr>
            </a:pPr>
            <a:r>
              <a:rPr sz="1500" b="0">
                <a:solidFill>
                  <a:srgbClr val="132238"/>
                </a:solidFill>
              </a:rPr>
              <a:t>16 / 32 mm·h⁻¹ 两级强降水阈值</a:t>
            </a:r>
            <a:endParaRPr sz="1500" b="0">
              <a:solidFill>
                <a:srgbClr val="132238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905500" y="16954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769D2"/>
                </a:solidFill>
              </a:defRPr>
            </a:pPr>
            <a:r>
              <a:rPr sz="1500" b="1">
                <a:solidFill>
                  <a:srgbClr val="1769D2"/>
                </a:solidFill>
              </a:rPr>
              <a:t>四层指标</a:t>
            </a:r>
            <a:endParaRPr sz="1500" b="1">
              <a:solidFill>
                <a:srgbClr val="1769D2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5905500" y="2114550"/>
            <a:ext cx="4762500" cy="552450"/>
          </a:xfrm>
          <a:prstGeom prst="roundRect">
            <a:avLst>
              <a:gd name="adj" fmla="val 20690"/>
            </a:avLst>
          </a:prstGeom>
          <a:solidFill>
            <a:srgbClr val="EAF4FF"/>
          </a:solidFill>
          <a:ln w="9525">
            <a:solidFill>
              <a:srgbClr val="D9E5F0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096000" y="2200275"/>
            <a:ext cx="85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769D2"/>
                </a:solidFill>
              </a:defRPr>
            </a:pPr>
            <a:r>
              <a:rPr sz="1350" b="1">
                <a:solidFill>
                  <a:srgbClr val="1769D2"/>
                </a:solidFill>
              </a:rPr>
              <a:t>降水</a:t>
            </a:r>
            <a:endParaRPr sz="1350" b="1">
              <a:solidFill>
                <a:srgbClr val="1769D2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086600" y="2200275"/>
            <a:ext cx="333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32238"/>
                </a:solidFill>
              </a:defRPr>
            </a:pPr>
            <a:r>
              <a:rPr sz="1350" b="0">
                <a:solidFill>
                  <a:srgbClr val="132238"/>
                </a:solidFill>
              </a:rPr>
              <a:t>CSI · POD · FAR · Bias</a:t>
            </a:r>
            <a:endParaRPr sz="1350" b="0">
              <a:solidFill>
                <a:srgbClr val="132238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5905500" y="2819400"/>
            <a:ext cx="4762500" cy="552450"/>
          </a:xfrm>
          <a:prstGeom prst="roundRect">
            <a:avLst>
              <a:gd name="adj" fmla="val 20690"/>
            </a:avLst>
          </a:prstGeom>
          <a:solidFill>
            <a:srgbClr val="F5F9FD"/>
          </a:solidFill>
          <a:ln w="9525">
            <a:solidFill>
              <a:srgbClr val="D9E5F0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096000" y="2905125"/>
            <a:ext cx="85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769D2"/>
                </a:solidFill>
              </a:defRPr>
            </a:pPr>
            <a:r>
              <a:rPr sz="1350" b="1">
                <a:solidFill>
                  <a:srgbClr val="1769D2"/>
                </a:solidFill>
              </a:rPr>
              <a:t>空间</a:t>
            </a:r>
            <a:endParaRPr sz="1350" b="1">
              <a:solidFill>
                <a:srgbClr val="1769D2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086600" y="2905125"/>
            <a:ext cx="333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32238"/>
                </a:solidFill>
              </a:defRPr>
            </a:pPr>
            <a:r>
              <a:rPr sz="1350" b="0">
                <a:solidFill>
                  <a:srgbClr val="132238"/>
                </a:solidFill>
              </a:rPr>
              <a:t>FSS · 质心误差</a:t>
            </a:r>
            <a:endParaRPr sz="1350" b="0">
              <a:solidFill>
                <a:srgbClr val="132238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5905500" y="3524250"/>
            <a:ext cx="4762500" cy="552450"/>
          </a:xfrm>
          <a:prstGeom prst="roundRect">
            <a:avLst>
              <a:gd name="adj" fmla="val 20690"/>
            </a:avLst>
          </a:prstGeom>
          <a:solidFill>
            <a:srgbClr val="F5F9FD"/>
          </a:solidFill>
          <a:ln w="9525">
            <a:solidFill>
              <a:srgbClr val="D9E5F0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096000" y="3609975"/>
            <a:ext cx="85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769D2"/>
                </a:solidFill>
              </a:defRPr>
            </a:pPr>
            <a:r>
              <a:rPr sz="1350" b="1">
                <a:solidFill>
                  <a:srgbClr val="1769D2"/>
                </a:solidFill>
              </a:rPr>
              <a:t>对象</a:t>
            </a:r>
            <a:endParaRPr sz="1350" b="1">
              <a:solidFill>
                <a:srgbClr val="1769D2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086600" y="3609975"/>
            <a:ext cx="333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32238"/>
                </a:solidFill>
              </a:defRPr>
            </a:pPr>
            <a:r>
              <a:rPr sz="1350" b="0">
                <a:solidFill>
                  <a:srgbClr val="132238"/>
                </a:solidFill>
              </a:rPr>
              <a:t>IoU · 对象 POD/FAR</a:t>
            </a:r>
            <a:endParaRPr sz="1350" b="0">
              <a:solidFill>
                <a:srgbClr val="132238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5905500" y="4229100"/>
            <a:ext cx="4762500" cy="552450"/>
          </a:xfrm>
          <a:prstGeom prst="roundRect">
            <a:avLst>
              <a:gd name="adj" fmla="val 20690"/>
            </a:avLst>
          </a:prstGeom>
          <a:solidFill>
            <a:srgbClr val="F5F9FD"/>
          </a:solidFill>
          <a:ln w="9525">
            <a:solidFill>
              <a:srgbClr val="D9E5F0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096000" y="4314825"/>
            <a:ext cx="85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769D2"/>
                </a:solidFill>
              </a:defRPr>
            </a:pPr>
            <a:r>
              <a:rPr sz="1350" b="1">
                <a:solidFill>
                  <a:srgbClr val="1769D2"/>
                </a:solidFill>
              </a:rPr>
              <a:t>保持</a:t>
            </a:r>
            <a:endParaRPr sz="1350" b="1">
              <a:solidFill>
                <a:srgbClr val="1769D2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086600" y="4314825"/>
            <a:ext cx="333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32238"/>
                </a:solidFill>
              </a:defRPr>
            </a:pPr>
            <a:r>
              <a:rPr sz="1350" b="0">
                <a:solidFill>
                  <a:srgbClr val="132238"/>
                </a:solidFill>
              </a:rPr>
              <a:t>面积 · 能量 · 强度</a:t>
            </a:r>
            <a:endParaRPr sz="1350" b="0">
              <a:solidFill>
                <a:srgbClr val="132238"/>
              </a:solidFill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685800" y="4572000"/>
            <a:ext cx="4572000" cy="1104900"/>
          </a:xfrm>
          <a:prstGeom prst="roundRect">
            <a:avLst>
              <a:gd name="adj" fmla="val 10345"/>
            </a:avLst>
          </a:prstGeom>
          <a:solidFill>
            <a:srgbClr val="0B2A4A"/>
          </a:solidFill>
          <a:ln w="0">
            <a:solidFill>
              <a:srgbClr val="0B2A4A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914400" y="4762500"/>
            <a:ext cx="285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45A6E8"/>
                </a:solidFill>
              </a:defRPr>
            </a:pPr>
            <a:r>
              <a:rPr sz="1350" b="1">
                <a:solidFill>
                  <a:srgbClr val="45A6E8"/>
                </a:solidFill>
              </a:rPr>
              <a:t>Checkpoint 选择原则</a:t>
            </a:r>
            <a:endParaRPr sz="1350" b="1">
              <a:solidFill>
                <a:srgbClr val="45A6E8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14400" y="5048250"/>
            <a:ext cx="3905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以强降水 CSI 为主，联合约束 FAR、Bias 与空间误差。</a:t>
            </a:r>
            <a:endParaRPr sz="165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矩形 16"/>
          <p:cNvSpPr>
            <a:spLocks noGrp="1"/>
          </p:cNvSpPr>
          <p:nvPr/>
        </p:nvSpPr>
        <p:spPr>
          <a:xfrm>
            <a:off x="685800" y="3238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769D2"/>
                </a:solidFill>
              </a:defRPr>
            </a:pPr>
            <a:r>
              <a:rPr sz="1125" b="1">
                <a:solidFill>
                  <a:srgbClr val="1769D2"/>
                </a:solidFill>
              </a:rPr>
              <a:t>03 · SIMVP 损失消融</a:t>
            </a:r>
            <a:endParaRPr sz="1125" b="1">
              <a:solidFill>
                <a:srgbClr val="1769D2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62865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0B2A4A"/>
                </a:solidFill>
              </a:defRPr>
            </a:pPr>
            <a:r>
              <a:rPr sz="2550" b="1">
                <a:solidFill>
                  <a:srgbClr val="0B2A4A"/>
                </a:solidFill>
              </a:rPr>
              <a:t>损失函数改造将强降水综合分数提升 84%</a:t>
            </a:r>
            <a:endParaRPr sz="2550" b="1">
              <a:solidFill>
                <a:srgbClr val="0B2A4A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295400"/>
            <a:ext cx="628650" cy="47625"/>
          </a:xfrm>
          <a:prstGeom prst="rect">
            <a:avLst/>
          </a:prstGeom>
          <a:solidFill>
            <a:srgbClr val="1769D2"/>
          </a:solidFill>
          <a:ln w="0">
            <a:solidFill>
              <a:srgbClr val="1769D2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6477000"/>
            <a:ext cx="457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0">
                <a:solidFill>
                  <a:srgbClr val="8292A4"/>
                </a:solidFill>
              </a:defRPr>
            </a:pPr>
            <a:r>
              <a:rPr sz="900" b="0">
                <a:solidFill>
                  <a:srgbClr val="8292A4"/>
                </a:solidFill>
              </a:rPr>
              <a:t>LOSS ABLATION</a:t>
            </a:r>
            <a:endParaRPr sz="900" b="0">
              <a:solidFill>
                <a:srgbClr val="8292A4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64770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8292A4"/>
                </a:solidFill>
              </a:defRPr>
            </a:pPr>
            <a:r>
              <a:rPr sz="900" b="1">
                <a:solidFill>
                  <a:srgbClr val="8292A4"/>
                </a:solidFill>
              </a:rPr>
              <a:t>04</a:t>
            </a:r>
            <a:endParaRPr sz="900" b="1">
              <a:solidFill>
                <a:srgbClr val="8292A4"/>
              </a:solidFill>
            </a:endParaRPr>
          </a:p>
        </p:txBody>
      </p:sp>
      <p:graphicFrame>
        <p:nvGraphicFramePr>
          <p:cNvPr id="22" name="Chart"/>
          <p:cNvGraphicFramePr/>
          <p:nvPr/>
        </p:nvGraphicFramePr>
        <p:xfrm>
          <a:off x="666750" y="1762125"/>
          <a:ext cx="6858000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矩形 6"/>
          <p:cNvSpPr>
            <a:spLocks noGrp="1"/>
          </p:cNvSpPr>
          <p:nvPr/>
        </p:nvSpPr>
        <p:spPr>
          <a:xfrm>
            <a:off x="8096250" y="19240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769D2"/>
                </a:solidFill>
              </a:defRPr>
            </a:pPr>
            <a:r>
              <a:rPr sz="1500" b="1">
                <a:solidFill>
                  <a:srgbClr val="1769D2"/>
                </a:solidFill>
              </a:rPr>
              <a:t>主要增益来源</a:t>
            </a:r>
            <a:endParaRPr sz="1500" b="1">
              <a:solidFill>
                <a:srgbClr val="1769D2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096250" y="2381250"/>
            <a:ext cx="2857500" cy="1257300"/>
          </a:xfrm>
          <a:prstGeom prst="roundRect">
            <a:avLst>
              <a:gd name="adj" fmla="val 9091"/>
            </a:avLst>
          </a:prstGeom>
          <a:solidFill>
            <a:srgbClr val="F5F9FD"/>
          </a:solidFill>
          <a:ln w="9525">
            <a:solidFill>
              <a:srgbClr val="D9E5F0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267700" y="2533650"/>
            <a:ext cx="2514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16876C"/>
                </a:solidFill>
              </a:defRPr>
            </a:pPr>
            <a:r>
              <a:rPr sz="2400" b="1">
                <a:solidFill>
                  <a:srgbClr val="16876C"/>
                </a:solidFill>
              </a:rPr>
              <a:t>+39%</a:t>
            </a:r>
            <a:endParaRPr sz="2400" b="1">
              <a:solidFill>
                <a:srgbClr val="16876C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267700" y="3000375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32238"/>
                </a:solidFill>
              </a:defRPr>
            </a:pPr>
            <a:r>
              <a:rPr sz="1275" b="1">
                <a:solidFill>
                  <a:srgbClr val="132238"/>
                </a:solidFill>
              </a:rPr>
              <a:t>强像素加权</a:t>
            </a:r>
            <a:endParaRPr sz="1275" b="1">
              <a:solidFill>
                <a:srgbClr val="132238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267700" y="3276600"/>
            <a:ext cx="25146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5F7185"/>
                </a:solidFill>
              </a:defRPr>
            </a:pPr>
            <a:r>
              <a:rPr sz="1050" b="0">
                <a:solidFill>
                  <a:srgbClr val="5F7185"/>
                </a:solidFill>
              </a:rPr>
              <a:t>0.381 → 0.531</a:t>
            </a:r>
            <a:endParaRPr sz="1050" b="0">
              <a:solidFill>
                <a:srgbClr val="5F7185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8096250" y="3848100"/>
            <a:ext cx="2857500" cy="1257300"/>
          </a:xfrm>
          <a:prstGeom prst="roundRect">
            <a:avLst>
              <a:gd name="adj" fmla="val 9091"/>
            </a:avLst>
          </a:prstGeom>
          <a:solidFill>
            <a:srgbClr val="F5F9FD"/>
          </a:solidFill>
          <a:ln w="9525">
            <a:solidFill>
              <a:srgbClr val="D9E5F0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267700" y="4000500"/>
            <a:ext cx="2514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1769D2"/>
                </a:solidFill>
              </a:defRPr>
            </a:pPr>
            <a:r>
              <a:rPr sz="2400" b="1">
                <a:solidFill>
                  <a:srgbClr val="1769D2"/>
                </a:solidFill>
              </a:rPr>
              <a:t>+15%</a:t>
            </a:r>
            <a:endParaRPr sz="2400" b="1">
              <a:solidFill>
                <a:srgbClr val="1769D2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267700" y="4467225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32238"/>
                </a:solidFill>
              </a:defRPr>
            </a:pPr>
            <a:r>
              <a:rPr sz="1275" b="1">
                <a:solidFill>
                  <a:srgbClr val="132238"/>
                </a:solidFill>
              </a:rPr>
              <a:t>Soft CSI</a:t>
            </a:r>
            <a:endParaRPr sz="1275" b="1">
              <a:solidFill>
                <a:srgbClr val="132238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267700" y="4743450"/>
            <a:ext cx="25146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5F7185"/>
                </a:solidFill>
              </a:defRPr>
            </a:pPr>
            <a:r>
              <a:rPr sz="1050" b="0">
                <a:solidFill>
                  <a:srgbClr val="5F7185"/>
                </a:solidFill>
              </a:rPr>
              <a:t>0.531 → 0.610</a:t>
            </a:r>
            <a:endParaRPr sz="1050" b="0">
              <a:solidFill>
                <a:srgbClr val="5F7185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096250" y="5391150"/>
            <a:ext cx="285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0B2A4A"/>
                </a:solidFill>
              </a:defRPr>
            </a:pPr>
            <a:r>
              <a:rPr sz="1350" b="1">
                <a:solidFill>
                  <a:srgbClr val="0B2A4A"/>
                </a:solidFill>
              </a:rPr>
              <a:t>结论：采用分时段 Soft CSI 作为后续训练基线。</a:t>
            </a:r>
            <a:endParaRPr sz="1350" b="1">
              <a:solidFill>
                <a:srgbClr val="0B2A4A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5" name="矩形 34"/>
          <p:cNvSpPr>
            <a:spLocks noGrp="1"/>
          </p:cNvSpPr>
          <p:nvPr/>
        </p:nvSpPr>
        <p:spPr>
          <a:xfrm>
            <a:off x="685800" y="3238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769D2"/>
                </a:solidFill>
              </a:defRPr>
            </a:pPr>
            <a:r>
              <a:rPr sz="1125" b="1">
                <a:solidFill>
                  <a:srgbClr val="1769D2"/>
                </a:solidFill>
              </a:rPr>
              <a:t>04 · SIMVP 基线</a:t>
            </a:r>
            <a:endParaRPr sz="1125" b="1">
              <a:solidFill>
                <a:srgbClr val="1769D2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62865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0B2A4A"/>
                </a:solidFill>
              </a:defRPr>
            </a:pPr>
            <a:r>
              <a:rPr sz="2550" b="1">
                <a:solidFill>
                  <a:srgbClr val="0B2A4A"/>
                </a:solidFill>
              </a:rPr>
              <a:t>SimVP 达到 0.714，但召回提升伴随空间虚警</a:t>
            </a:r>
            <a:endParaRPr sz="2550" b="1">
              <a:solidFill>
                <a:srgbClr val="0B2A4A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295400"/>
            <a:ext cx="628650" cy="47625"/>
          </a:xfrm>
          <a:prstGeom prst="rect">
            <a:avLst/>
          </a:prstGeom>
          <a:solidFill>
            <a:srgbClr val="1769D2"/>
          </a:solidFill>
          <a:ln w="0">
            <a:solidFill>
              <a:srgbClr val="1769D2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6477000"/>
            <a:ext cx="457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0">
                <a:solidFill>
                  <a:srgbClr val="8292A4"/>
                </a:solidFill>
              </a:defRPr>
            </a:pPr>
            <a:r>
              <a:rPr sz="900" b="0">
                <a:solidFill>
                  <a:srgbClr val="8292A4"/>
                </a:solidFill>
              </a:rPr>
              <a:t>SIMVP BASELINE</a:t>
            </a:r>
            <a:endParaRPr sz="900" b="0">
              <a:solidFill>
                <a:srgbClr val="8292A4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64770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8292A4"/>
                </a:solidFill>
              </a:defRPr>
            </a:pPr>
            <a:r>
              <a:rPr sz="900" b="1">
                <a:solidFill>
                  <a:srgbClr val="8292A4"/>
                </a:solidFill>
              </a:rPr>
              <a:t>05</a:t>
            </a:r>
            <a:endParaRPr sz="900" b="1">
              <a:solidFill>
                <a:srgbClr val="8292A4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685800" y="1714500"/>
            <a:ext cx="2381250" cy="1257300"/>
          </a:xfrm>
          <a:prstGeom prst="roundRect">
            <a:avLst>
              <a:gd name="adj" fmla="val 9091"/>
            </a:avLst>
          </a:prstGeom>
          <a:solidFill>
            <a:srgbClr val="F5F9FD"/>
          </a:solidFill>
          <a:ln w="9525">
            <a:solidFill>
              <a:srgbClr val="D9E5F0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57250" y="1866900"/>
            <a:ext cx="2038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1769D2"/>
                </a:solidFill>
              </a:defRPr>
            </a:pPr>
            <a:r>
              <a:rPr sz="2400" b="1">
                <a:solidFill>
                  <a:srgbClr val="1769D2"/>
                </a:solidFill>
              </a:rPr>
              <a:t>0.714</a:t>
            </a:r>
            <a:endParaRPr sz="2400" b="1">
              <a:solidFill>
                <a:srgbClr val="1769D2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57250" y="2333625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32238"/>
                </a:solidFill>
              </a:defRPr>
            </a:pPr>
            <a:r>
              <a:rPr sz="1275" b="1">
                <a:solidFill>
                  <a:srgbClr val="132238"/>
                </a:solidFill>
              </a:rPr>
              <a:t>综合 CSI</a:t>
            </a:r>
            <a:endParaRPr sz="1275" b="1">
              <a:solidFill>
                <a:srgbClr val="132238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57250" y="2609850"/>
            <a:ext cx="20383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5F7185"/>
                </a:solidFill>
              </a:defRPr>
            </a:pPr>
            <a:r>
              <a:rPr sz="1050" b="0">
                <a:solidFill>
                  <a:srgbClr val="5F7185"/>
                </a:solidFill>
              </a:rPr>
              <a:t>epoch 3 · 10 epochs</a:t>
            </a:r>
            <a:endParaRPr sz="1050" b="0">
              <a:solidFill>
                <a:srgbClr val="5F7185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3257550" y="1714500"/>
            <a:ext cx="2381250" cy="1257300"/>
          </a:xfrm>
          <a:prstGeom prst="roundRect">
            <a:avLst>
              <a:gd name="adj" fmla="val 9091"/>
            </a:avLst>
          </a:prstGeom>
          <a:solidFill>
            <a:srgbClr val="F5F9FD"/>
          </a:solidFill>
          <a:ln w="9525">
            <a:solidFill>
              <a:srgbClr val="D9E5F0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3429000" y="1866900"/>
            <a:ext cx="2038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16876C"/>
                </a:solidFill>
              </a:defRPr>
            </a:pPr>
            <a:r>
              <a:rPr sz="2400" b="1">
                <a:solidFill>
                  <a:srgbClr val="16876C"/>
                </a:solidFill>
              </a:rPr>
              <a:t>+5.24%</a:t>
            </a:r>
            <a:endParaRPr sz="2400" b="1">
              <a:solidFill>
                <a:srgbClr val="16876C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429000" y="2333625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32238"/>
                </a:solidFill>
              </a:defRPr>
            </a:pPr>
            <a:r>
              <a:rPr sz="1275" b="1">
                <a:solidFill>
                  <a:srgbClr val="132238"/>
                </a:solidFill>
              </a:rPr>
              <a:t>较 5-epoch</a:t>
            </a:r>
            <a:endParaRPr sz="1275" b="1">
              <a:solidFill>
                <a:srgbClr val="132238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429000" y="2609850"/>
            <a:ext cx="20383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5F7185"/>
                </a:solidFill>
              </a:defRPr>
            </a:pPr>
            <a:r>
              <a:rPr sz="1050" b="0">
                <a:solidFill>
                  <a:srgbClr val="5F7185"/>
                </a:solidFill>
              </a:rPr>
              <a:t>主要来自第二小时</a:t>
            </a:r>
            <a:endParaRPr sz="1050" b="0">
              <a:solidFill>
                <a:srgbClr val="5F7185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5829300" y="1714500"/>
            <a:ext cx="2381250" cy="1257300"/>
          </a:xfrm>
          <a:prstGeom prst="roundRect">
            <a:avLst>
              <a:gd name="adj" fmla="val 9091"/>
            </a:avLst>
          </a:prstGeom>
          <a:solidFill>
            <a:srgbClr val="F5F9FD"/>
          </a:solidFill>
          <a:ln w="9525">
            <a:solidFill>
              <a:srgbClr val="D9E5F0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000750" y="1866900"/>
            <a:ext cx="2038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1769D2"/>
                </a:solidFill>
              </a:defRPr>
            </a:pPr>
            <a:r>
              <a:rPr sz="2400" b="1">
                <a:solidFill>
                  <a:srgbClr val="1769D2"/>
                </a:solidFill>
              </a:rPr>
              <a:t>0.108</a:t>
            </a:r>
            <a:endParaRPr sz="2400" b="1">
              <a:solidFill>
                <a:srgbClr val="1769D2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000750" y="2333625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32238"/>
                </a:solidFill>
              </a:defRPr>
            </a:pPr>
            <a:r>
              <a:rPr sz="1275" b="1">
                <a:solidFill>
                  <a:srgbClr val="132238"/>
                </a:solidFill>
              </a:rPr>
              <a:t>1–2 h CSI@16</a:t>
            </a:r>
            <a:endParaRPr sz="1275" b="1">
              <a:solidFill>
                <a:srgbClr val="132238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00750" y="2609850"/>
            <a:ext cx="20383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5F7185"/>
                </a:solidFill>
              </a:defRPr>
            </a:pPr>
            <a:r>
              <a:rPr sz="1050" b="0">
                <a:solidFill>
                  <a:srgbClr val="5F7185"/>
                </a:solidFill>
              </a:rPr>
              <a:t>覆盖明显恢复</a:t>
            </a:r>
            <a:endParaRPr sz="1050" b="0">
              <a:solidFill>
                <a:srgbClr val="5F7185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8401050" y="1714500"/>
            <a:ext cx="2381250" cy="1257300"/>
          </a:xfrm>
          <a:prstGeom prst="roundRect">
            <a:avLst>
              <a:gd name="adj" fmla="val 9091"/>
            </a:avLst>
          </a:prstGeom>
          <a:solidFill>
            <a:srgbClr val="F5F9FD"/>
          </a:solidFill>
          <a:ln w="9525">
            <a:solidFill>
              <a:srgbClr val="D9E5F0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572500" y="1866900"/>
            <a:ext cx="2038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E47A2E"/>
                </a:solidFill>
              </a:defRPr>
            </a:pPr>
            <a:r>
              <a:rPr sz="2400" b="1">
                <a:solidFill>
                  <a:srgbClr val="E47A2E"/>
                </a:solidFill>
              </a:rPr>
              <a:t>0.034</a:t>
            </a:r>
            <a:endParaRPr sz="2400" b="1">
              <a:solidFill>
                <a:srgbClr val="E47A2E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572500" y="2333625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32238"/>
                </a:solidFill>
              </a:defRPr>
            </a:pPr>
            <a:r>
              <a:rPr sz="1275" b="1">
                <a:solidFill>
                  <a:srgbClr val="132238"/>
                </a:solidFill>
              </a:rPr>
              <a:t>1–2 h CSI@32</a:t>
            </a:r>
            <a:endParaRPr sz="1275" b="1">
              <a:solidFill>
                <a:srgbClr val="132238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572500" y="2609850"/>
            <a:ext cx="20383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5F7185"/>
                </a:solidFill>
              </a:defRPr>
            </a:pPr>
            <a:r>
              <a:rPr sz="1050" b="0">
                <a:solidFill>
                  <a:srgbClr val="5F7185"/>
                </a:solidFill>
              </a:rPr>
              <a:t>仍处于低位</a:t>
            </a:r>
            <a:endParaRPr sz="1050" b="0">
              <a:solidFill>
                <a:srgbClr val="5F7185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85800" y="33718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6876C"/>
                </a:solidFill>
              </a:defRPr>
            </a:pPr>
            <a:r>
              <a:rPr sz="1500" b="1">
                <a:solidFill>
                  <a:srgbClr val="16876C"/>
                </a:solidFill>
              </a:rPr>
              <a:t>收益</a:t>
            </a:r>
            <a:endParaRPr sz="1500" b="1">
              <a:solidFill>
                <a:srgbClr val="16876C"/>
              </a:solidFill>
            </a:endParaRP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685800" y="3838575"/>
            <a:ext cx="76200" cy="76200"/>
          </a:xfrm>
          <a:prstGeom prst="ellipse">
            <a:avLst/>
          </a:prstGeom>
          <a:solidFill>
            <a:srgbClr val="1769D2"/>
          </a:solidFill>
          <a:ln w="0">
            <a:solidFill>
              <a:srgbClr val="1769D2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76300" y="3733800"/>
            <a:ext cx="428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32238"/>
                </a:solidFill>
              </a:defRPr>
            </a:pPr>
            <a:r>
              <a:rPr sz="1500" b="0">
                <a:solidFill>
                  <a:srgbClr val="132238"/>
                </a:solidFill>
              </a:rPr>
              <a:t>第二小时覆盖、POD 与强度恢复</a:t>
            </a:r>
            <a:endParaRPr sz="1500" b="0">
              <a:solidFill>
                <a:srgbClr val="132238"/>
              </a:solidFill>
            </a:endParaRPr>
          </a:p>
        </p:txBody>
      </p:sp>
      <p:sp>
        <p:nvSpPr>
          <p:cNvPr id="25" name="椭圆 24"/>
          <p:cNvSpPr>
            <a:spLocks noGrp="1"/>
          </p:cNvSpPr>
          <p:nvPr/>
        </p:nvSpPr>
        <p:spPr>
          <a:xfrm>
            <a:off x="685800" y="4314825"/>
            <a:ext cx="76200" cy="76200"/>
          </a:xfrm>
          <a:prstGeom prst="ellipse">
            <a:avLst/>
          </a:prstGeom>
          <a:solidFill>
            <a:srgbClr val="1769D2"/>
          </a:solidFill>
          <a:ln w="0">
            <a:solidFill>
              <a:srgbClr val="1769D2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76300" y="4210050"/>
            <a:ext cx="428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32238"/>
                </a:solidFill>
              </a:defRPr>
            </a:pPr>
            <a:r>
              <a:rPr sz="1500" b="0">
                <a:solidFill>
                  <a:srgbClr val="132238"/>
                </a:solidFill>
              </a:rPr>
              <a:t>Intensity ratio 1–2 h 恢复至 1.019</a:t>
            </a:r>
            <a:endParaRPr sz="1500" b="0">
              <a:solidFill>
                <a:srgbClr val="132238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191250" y="33718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CF3E4B"/>
                </a:solidFill>
              </a:defRPr>
            </a:pPr>
            <a:r>
              <a:rPr sz="1500" b="1">
                <a:solidFill>
                  <a:srgbClr val="CF3E4B"/>
                </a:solidFill>
              </a:rPr>
              <a:t>代价</a:t>
            </a:r>
            <a:endParaRPr sz="1500" b="1">
              <a:solidFill>
                <a:srgbClr val="CF3E4B"/>
              </a:solidFill>
            </a:endParaRPr>
          </a:p>
        </p:txBody>
      </p:sp>
      <p:sp>
        <p:nvSpPr>
          <p:cNvPr id="28" name="椭圆 27"/>
          <p:cNvSpPr>
            <a:spLocks noGrp="1"/>
          </p:cNvSpPr>
          <p:nvPr/>
        </p:nvSpPr>
        <p:spPr>
          <a:xfrm>
            <a:off x="6191250" y="3838575"/>
            <a:ext cx="76200" cy="76200"/>
          </a:xfrm>
          <a:prstGeom prst="ellipse">
            <a:avLst/>
          </a:prstGeom>
          <a:solidFill>
            <a:srgbClr val="1769D2"/>
          </a:solidFill>
          <a:ln w="0">
            <a:solidFill>
              <a:srgbClr val="1769D2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6381750" y="3733800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32238"/>
                </a:solidFill>
              </a:defRPr>
            </a:pPr>
            <a:r>
              <a:rPr sz="1500" b="0">
                <a:solidFill>
                  <a:srgbClr val="132238"/>
                </a:solidFill>
              </a:rPr>
              <a:t>第一小时 Bias@16/32：1.33 / 1.41</a:t>
            </a:r>
            <a:endParaRPr sz="1500" b="0">
              <a:solidFill>
                <a:srgbClr val="132238"/>
              </a:solidFill>
            </a:endParaRPr>
          </a:p>
        </p:txBody>
      </p:sp>
      <p:sp>
        <p:nvSpPr>
          <p:cNvPr id="30" name="椭圆 29"/>
          <p:cNvSpPr>
            <a:spLocks noGrp="1"/>
          </p:cNvSpPr>
          <p:nvPr/>
        </p:nvSpPr>
        <p:spPr>
          <a:xfrm>
            <a:off x="6191250" y="4314825"/>
            <a:ext cx="76200" cy="76200"/>
          </a:xfrm>
          <a:prstGeom prst="ellipse">
            <a:avLst/>
          </a:prstGeom>
          <a:solidFill>
            <a:srgbClr val="1769D2"/>
          </a:solidFill>
          <a:ln w="0">
            <a:solidFill>
              <a:srgbClr val="1769D2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381750" y="4210050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32238"/>
                </a:solidFill>
              </a:defRPr>
            </a:pPr>
            <a:r>
              <a:rPr sz="1500" b="0">
                <a:solidFill>
                  <a:srgbClr val="132238"/>
                </a:solidFill>
              </a:rPr>
              <a:t>第二小时 FAR@16/32：0.789 / 0.905</a:t>
            </a:r>
            <a:endParaRPr sz="1500" b="0">
              <a:solidFill>
                <a:srgbClr val="132238"/>
              </a:solidFill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685800" y="5048250"/>
            <a:ext cx="10096500" cy="685800"/>
          </a:xfrm>
          <a:prstGeom prst="roundRect">
            <a:avLst>
              <a:gd name="adj" fmla="val 16667"/>
            </a:avLst>
          </a:prstGeom>
          <a:solidFill>
            <a:srgbClr val="EAF4FF"/>
          </a:solidFill>
          <a:ln w="0">
            <a:solidFill>
              <a:srgbClr val="EAF4FF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914400" y="5229225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769D2"/>
                </a:solidFill>
              </a:defRPr>
            </a:pPr>
            <a:r>
              <a:rPr sz="1275" b="1">
                <a:solidFill>
                  <a:srgbClr val="1769D2"/>
                </a:solidFill>
              </a:rPr>
              <a:t>定位</a:t>
            </a:r>
            <a:endParaRPr sz="1275" b="1">
              <a:solidFill>
                <a:srgbClr val="1769D2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714500" y="5153025"/>
            <a:ext cx="857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0B2A4A"/>
                </a:solidFill>
              </a:defRPr>
            </a:pPr>
            <a:r>
              <a:rPr sz="1650" b="1">
                <a:solidFill>
                  <a:srgbClr val="0B2A4A"/>
                </a:solidFill>
              </a:rPr>
              <a:t>当前候选中召回最完整，但尚未解决长时空间重叠与虚警。</a:t>
            </a:r>
            <a:endParaRPr sz="1650" b="1">
              <a:solidFill>
                <a:srgbClr val="0B2A4A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矩形 20"/>
          <p:cNvSpPr>
            <a:spLocks noGrp="1"/>
          </p:cNvSpPr>
          <p:nvPr/>
        </p:nvSpPr>
        <p:spPr>
          <a:xfrm>
            <a:off x="685800" y="3238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769D2"/>
                </a:solidFill>
              </a:defRPr>
            </a:pPr>
            <a:r>
              <a:rPr sz="1125" b="1">
                <a:solidFill>
                  <a:srgbClr val="1769D2"/>
                </a:solidFill>
              </a:rPr>
              <a:t>05 · 循环基线</a:t>
            </a:r>
            <a:endParaRPr sz="1125" b="1">
              <a:solidFill>
                <a:srgbClr val="1769D2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62865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0B2A4A"/>
                </a:solidFill>
              </a:defRPr>
            </a:pPr>
            <a:r>
              <a:rPr sz="2550" b="1">
                <a:solidFill>
                  <a:srgbClr val="0B2A4A"/>
                </a:solidFill>
              </a:rPr>
              <a:t>ConvLSTM 改善局地重叠，仍未解决长时位移</a:t>
            </a:r>
            <a:endParaRPr sz="2550" b="1">
              <a:solidFill>
                <a:srgbClr val="0B2A4A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295400"/>
            <a:ext cx="628650" cy="47625"/>
          </a:xfrm>
          <a:prstGeom prst="rect">
            <a:avLst/>
          </a:prstGeom>
          <a:solidFill>
            <a:srgbClr val="1769D2"/>
          </a:solidFill>
          <a:ln w="0">
            <a:solidFill>
              <a:srgbClr val="1769D2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6477000"/>
            <a:ext cx="457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0">
                <a:solidFill>
                  <a:srgbClr val="8292A4"/>
                </a:solidFill>
              </a:defRPr>
            </a:pPr>
            <a:r>
              <a:rPr sz="900" b="0">
                <a:solidFill>
                  <a:srgbClr val="8292A4"/>
                </a:solidFill>
              </a:rPr>
              <a:t>CONVLSTM</a:t>
            </a:r>
            <a:endParaRPr sz="900" b="0">
              <a:solidFill>
                <a:srgbClr val="8292A4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64770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8292A4"/>
                </a:solidFill>
              </a:defRPr>
            </a:pPr>
            <a:r>
              <a:rPr sz="900" b="1">
                <a:solidFill>
                  <a:srgbClr val="8292A4"/>
                </a:solidFill>
              </a:rPr>
              <a:t>06</a:t>
            </a:r>
            <a:endParaRPr sz="900" b="1">
              <a:solidFill>
                <a:srgbClr val="8292A4"/>
              </a:solidFill>
            </a:endParaRPr>
          </a:p>
        </p:txBody>
      </p:sp>
      <p:graphicFrame>
        <p:nvGraphicFramePr>
          <p:cNvPr id="26" name="Chart"/>
          <p:cNvGraphicFramePr/>
          <p:nvPr/>
        </p:nvGraphicFramePr>
        <p:xfrm>
          <a:off x="571500" y="1809750"/>
          <a:ext cx="685800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矩形 6"/>
          <p:cNvSpPr>
            <a:spLocks noGrp="1"/>
          </p:cNvSpPr>
          <p:nvPr/>
        </p:nvSpPr>
        <p:spPr>
          <a:xfrm>
            <a:off x="8096250" y="18478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6876C"/>
                </a:solidFill>
              </a:defRPr>
            </a:pPr>
            <a:r>
              <a:rPr sz="1500" b="1">
                <a:solidFill>
                  <a:srgbClr val="16876C"/>
                </a:solidFill>
              </a:rPr>
              <a:t>改善</a:t>
            </a:r>
            <a:endParaRPr sz="1500" b="1">
              <a:solidFill>
                <a:srgbClr val="16876C"/>
              </a:solidFill>
            </a:endParaRPr>
          </a:p>
        </p:txBody>
      </p:sp>
      <p:sp>
        <p:nvSpPr>
          <p:cNvPr id="8" name="椭圆 7"/>
          <p:cNvSpPr>
            <a:spLocks noGrp="1"/>
          </p:cNvSpPr>
          <p:nvPr/>
        </p:nvSpPr>
        <p:spPr>
          <a:xfrm>
            <a:off x="8096250" y="2314575"/>
            <a:ext cx="76200" cy="76200"/>
          </a:xfrm>
          <a:prstGeom prst="ellipse">
            <a:avLst/>
          </a:prstGeom>
          <a:solidFill>
            <a:srgbClr val="1769D2"/>
          </a:solidFill>
          <a:ln w="0">
            <a:solidFill>
              <a:srgbClr val="1769D2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286750" y="2209800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32238"/>
                </a:solidFill>
              </a:defRPr>
            </a:pPr>
            <a:r>
              <a:rPr sz="1350" b="0">
                <a:solidFill>
                  <a:srgbClr val="132238"/>
                </a:solidFill>
              </a:rPr>
              <a:t>FSS 与匹配对象 IoU</a:t>
            </a:r>
            <a:endParaRPr sz="1350" b="0">
              <a:solidFill>
                <a:srgbClr val="132238"/>
              </a:solidFill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8096250" y="2733675"/>
            <a:ext cx="76200" cy="76200"/>
          </a:xfrm>
          <a:prstGeom prst="ellipse">
            <a:avLst/>
          </a:prstGeom>
          <a:solidFill>
            <a:srgbClr val="1769D2"/>
          </a:solidFill>
          <a:ln w="0">
            <a:solidFill>
              <a:srgbClr val="1769D2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286750" y="2628900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32238"/>
                </a:solidFill>
              </a:defRPr>
            </a:pPr>
            <a:r>
              <a:rPr sz="1350" b="0">
                <a:solidFill>
                  <a:srgbClr val="132238"/>
                </a:solidFill>
              </a:rPr>
              <a:t>第一小时强降水 CSI</a:t>
            </a:r>
            <a:endParaRPr sz="1350" b="0">
              <a:solidFill>
                <a:srgbClr val="132238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096250" y="32956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CF3E4B"/>
                </a:solidFill>
              </a:defRPr>
            </a:pPr>
            <a:r>
              <a:rPr sz="1500" b="1">
                <a:solidFill>
                  <a:srgbClr val="CF3E4B"/>
                </a:solidFill>
              </a:rPr>
              <a:t>未解决</a:t>
            </a:r>
            <a:endParaRPr sz="1500" b="1">
              <a:solidFill>
                <a:srgbClr val="CF3E4B"/>
              </a:solidFill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8096250" y="3762375"/>
            <a:ext cx="76200" cy="76200"/>
          </a:xfrm>
          <a:prstGeom prst="ellipse">
            <a:avLst/>
          </a:prstGeom>
          <a:solidFill>
            <a:srgbClr val="1769D2"/>
          </a:solidFill>
          <a:ln w="0">
            <a:solidFill>
              <a:srgbClr val="1769D2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286750" y="3657600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32238"/>
                </a:solidFill>
              </a:defRPr>
            </a:pPr>
            <a:r>
              <a:rPr sz="1350" b="0">
                <a:solidFill>
                  <a:srgbClr val="132238"/>
                </a:solidFill>
              </a:rPr>
              <a:t>质心误差仍为 84–88 km</a:t>
            </a:r>
            <a:endParaRPr sz="1350" b="0">
              <a:solidFill>
                <a:srgbClr val="132238"/>
              </a:solidFill>
            </a:endParaRP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8096250" y="4181475"/>
            <a:ext cx="76200" cy="76200"/>
          </a:xfrm>
          <a:prstGeom prst="ellipse">
            <a:avLst/>
          </a:prstGeom>
          <a:solidFill>
            <a:srgbClr val="1769D2"/>
          </a:solidFill>
          <a:ln w="0">
            <a:solidFill>
              <a:srgbClr val="1769D2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286750" y="4076700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32238"/>
                </a:solidFill>
              </a:defRPr>
            </a:pPr>
            <a:r>
              <a:rPr sz="1350" b="0">
                <a:solidFill>
                  <a:srgbClr val="132238"/>
                </a:solidFill>
              </a:rPr>
              <a:t>第二小时 Bias@32 达 2.88</a:t>
            </a:r>
            <a:endParaRPr sz="1350" b="0">
              <a:solidFill>
                <a:srgbClr val="132238"/>
              </a:solidFill>
            </a:endParaRPr>
          </a:p>
        </p:txBody>
      </p:sp>
      <p:sp>
        <p:nvSpPr>
          <p:cNvPr id="17" name="椭圆 16"/>
          <p:cNvSpPr>
            <a:spLocks noGrp="1"/>
          </p:cNvSpPr>
          <p:nvPr/>
        </p:nvSpPr>
        <p:spPr>
          <a:xfrm>
            <a:off x="8096250" y="4600575"/>
            <a:ext cx="76200" cy="76200"/>
          </a:xfrm>
          <a:prstGeom prst="ellipse">
            <a:avLst/>
          </a:prstGeom>
          <a:solidFill>
            <a:srgbClr val="1769D2"/>
          </a:solidFill>
          <a:ln w="0">
            <a:solidFill>
              <a:srgbClr val="1769D2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286750" y="4495800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32238"/>
                </a:solidFill>
              </a:defRPr>
            </a:pPr>
            <a:r>
              <a:rPr sz="1350" b="0">
                <a:solidFill>
                  <a:srgbClr val="132238"/>
                </a:solidFill>
              </a:rPr>
              <a:t>事件鲁棒性弱于 SimVP</a:t>
            </a:r>
            <a:endParaRPr sz="1350" b="0">
              <a:solidFill>
                <a:srgbClr val="132238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8020050" y="5143500"/>
            <a:ext cx="3143250" cy="628650"/>
          </a:xfrm>
          <a:prstGeom prst="roundRect">
            <a:avLst>
              <a:gd name="adj" fmla="val 18182"/>
            </a:avLst>
          </a:prstGeom>
          <a:solidFill>
            <a:srgbClr val="EAF4FF"/>
          </a:solidFill>
          <a:ln w="0">
            <a:solidFill>
              <a:srgbClr val="EAF4FF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229600" y="5238750"/>
            <a:ext cx="2724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0B2A4A"/>
                </a:solidFill>
              </a:defRPr>
            </a:pPr>
            <a:r>
              <a:rPr sz="1350" b="1">
                <a:solidFill>
                  <a:srgbClr val="0B2A4A"/>
                </a:solidFill>
              </a:rPr>
              <a:t>保留为运动分支骨干，不直接替代 SimVP。</a:t>
            </a:r>
            <a:endParaRPr sz="1350" b="1">
              <a:solidFill>
                <a:srgbClr val="0B2A4A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" name="矩形 38"/>
          <p:cNvSpPr>
            <a:spLocks noGrp="1"/>
          </p:cNvSpPr>
          <p:nvPr/>
        </p:nvSpPr>
        <p:spPr>
          <a:xfrm>
            <a:off x="685800" y="3238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769D2"/>
                </a:solidFill>
              </a:defRPr>
            </a:pPr>
            <a:r>
              <a:rPr sz="1125" b="1">
                <a:solidFill>
                  <a:srgbClr val="1769D2"/>
                </a:solidFill>
              </a:rPr>
              <a:t>06 · R4-B 运动分支</a:t>
            </a:r>
            <a:endParaRPr sz="1125" b="1">
              <a:solidFill>
                <a:srgbClr val="1769D2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62865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0B2A4A"/>
                </a:solidFill>
              </a:defRPr>
            </a:pPr>
            <a:r>
              <a:rPr sz="2550" b="1">
                <a:solidFill>
                  <a:srgbClr val="0B2A4A"/>
                </a:solidFill>
              </a:rPr>
              <a:t>显式运动改善定位，却让强降水结构快速衰减</a:t>
            </a:r>
            <a:endParaRPr sz="2550" b="1">
              <a:solidFill>
                <a:srgbClr val="0B2A4A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295400"/>
            <a:ext cx="628650" cy="47625"/>
          </a:xfrm>
          <a:prstGeom prst="rect">
            <a:avLst/>
          </a:prstGeom>
          <a:solidFill>
            <a:srgbClr val="1769D2"/>
          </a:solidFill>
          <a:ln w="0">
            <a:solidFill>
              <a:srgbClr val="1769D2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6477000"/>
            <a:ext cx="457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0">
                <a:solidFill>
                  <a:srgbClr val="8292A4"/>
                </a:solidFill>
              </a:defRPr>
            </a:pPr>
            <a:r>
              <a:rPr sz="900" b="0">
                <a:solidFill>
                  <a:srgbClr val="8292A4"/>
                </a:solidFill>
              </a:rPr>
              <a:t>MOTION EVOLUTION</a:t>
            </a:r>
            <a:endParaRPr sz="900" b="0">
              <a:solidFill>
                <a:srgbClr val="8292A4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64770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8292A4"/>
                </a:solidFill>
              </a:defRPr>
            </a:pPr>
            <a:r>
              <a:rPr sz="900" b="1">
                <a:solidFill>
                  <a:srgbClr val="8292A4"/>
                </a:solidFill>
              </a:rPr>
              <a:t>07</a:t>
            </a:r>
            <a:endParaRPr sz="900" b="1">
              <a:solidFill>
                <a:srgbClr val="8292A4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171450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6876C"/>
                </a:solidFill>
              </a:defRPr>
            </a:pPr>
            <a:r>
              <a:rPr sz="1500" b="1">
                <a:solidFill>
                  <a:srgbClr val="16876C"/>
                </a:solidFill>
              </a:rPr>
              <a:t>空间定位收益</a:t>
            </a:r>
            <a:endParaRPr sz="1500" b="1">
              <a:solidFill>
                <a:srgbClr val="16876C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85800" y="2133600"/>
            <a:ext cx="2428875" cy="1257300"/>
          </a:xfrm>
          <a:prstGeom prst="roundRect">
            <a:avLst>
              <a:gd name="adj" fmla="val 9091"/>
            </a:avLst>
          </a:prstGeom>
          <a:solidFill>
            <a:srgbClr val="F5F9FD"/>
          </a:solidFill>
          <a:ln w="9525">
            <a:solidFill>
              <a:srgbClr val="D9E5F0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57250" y="2286000"/>
            <a:ext cx="20859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16876C"/>
                </a:solidFill>
              </a:defRPr>
            </a:pPr>
            <a:r>
              <a:rPr sz="2400" b="1">
                <a:solidFill>
                  <a:srgbClr val="16876C"/>
                </a:solidFill>
              </a:rPr>
              <a:t>68.9 km</a:t>
            </a:r>
            <a:endParaRPr sz="2400" b="1">
              <a:solidFill>
                <a:srgbClr val="16876C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57250" y="2752725"/>
            <a:ext cx="20859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32238"/>
                </a:solidFill>
              </a:defRPr>
            </a:pPr>
            <a:r>
              <a:rPr sz="1275" b="1">
                <a:solidFill>
                  <a:srgbClr val="132238"/>
                </a:solidFill>
              </a:rPr>
              <a:t>质心误差 @16</a:t>
            </a:r>
            <a:endParaRPr sz="1275" b="1">
              <a:solidFill>
                <a:srgbClr val="132238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57250" y="3028950"/>
            <a:ext cx="20859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5F7185"/>
                </a:solidFill>
              </a:defRPr>
            </a:pPr>
            <a:r>
              <a:rPr sz="1050" b="0">
                <a:solidFill>
                  <a:srgbClr val="5F7185"/>
                </a:solidFill>
              </a:rPr>
              <a:t>较 ConvLSTM 降 10.5 km</a:t>
            </a:r>
            <a:endParaRPr sz="1050" b="0">
              <a:solidFill>
                <a:srgbClr val="5F7185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3305175" y="2133600"/>
            <a:ext cx="2428875" cy="1257300"/>
          </a:xfrm>
          <a:prstGeom prst="roundRect">
            <a:avLst>
              <a:gd name="adj" fmla="val 9091"/>
            </a:avLst>
          </a:prstGeom>
          <a:solidFill>
            <a:srgbClr val="F5F9FD"/>
          </a:solidFill>
          <a:ln w="9525">
            <a:solidFill>
              <a:srgbClr val="D9E5F0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476625" y="2286000"/>
            <a:ext cx="20859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16876C"/>
                </a:solidFill>
              </a:defRPr>
            </a:pPr>
            <a:r>
              <a:rPr sz="2400" b="1">
                <a:solidFill>
                  <a:srgbClr val="16876C"/>
                </a:solidFill>
              </a:rPr>
              <a:t>56.7 km</a:t>
            </a:r>
            <a:endParaRPr sz="2400" b="1">
              <a:solidFill>
                <a:srgbClr val="16876C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476625" y="2752725"/>
            <a:ext cx="20859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32238"/>
                </a:solidFill>
              </a:defRPr>
            </a:pPr>
            <a:r>
              <a:rPr sz="1275" b="1">
                <a:solidFill>
                  <a:srgbClr val="132238"/>
                </a:solidFill>
              </a:rPr>
              <a:t>质心误差 @32</a:t>
            </a:r>
            <a:endParaRPr sz="1275" b="1">
              <a:solidFill>
                <a:srgbClr val="132238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476625" y="3028950"/>
            <a:ext cx="20859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5F7185"/>
                </a:solidFill>
              </a:defRPr>
            </a:pPr>
            <a:r>
              <a:rPr sz="1050" b="0">
                <a:solidFill>
                  <a:srgbClr val="5F7185"/>
                </a:solidFill>
              </a:rPr>
              <a:t>较 ConvLSTM 降 31.2 km</a:t>
            </a:r>
            <a:endParaRPr sz="1050" b="0">
              <a:solidFill>
                <a:srgbClr val="5F7185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457950" y="171450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CF3E4B"/>
                </a:solidFill>
              </a:defRPr>
            </a:pPr>
            <a:r>
              <a:rPr sz="1500" b="1">
                <a:solidFill>
                  <a:srgbClr val="CF3E4B"/>
                </a:solidFill>
              </a:rPr>
              <a:t>结构保持代价</a:t>
            </a:r>
            <a:endParaRPr sz="1500" b="1">
              <a:solidFill>
                <a:srgbClr val="CF3E4B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6457950" y="2133600"/>
            <a:ext cx="2095500" cy="1257300"/>
          </a:xfrm>
          <a:prstGeom prst="roundRect">
            <a:avLst>
              <a:gd name="adj" fmla="val 9091"/>
            </a:avLst>
          </a:prstGeom>
          <a:solidFill>
            <a:srgbClr val="F5F9FD"/>
          </a:solidFill>
          <a:ln w="9525">
            <a:solidFill>
              <a:srgbClr val="D9E5F0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629400" y="2286000"/>
            <a:ext cx="1752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CF3E4B"/>
                </a:solidFill>
              </a:defRPr>
            </a:pPr>
            <a:r>
              <a:rPr sz="2400" b="1">
                <a:solidFill>
                  <a:srgbClr val="CF3E4B"/>
                </a:solidFill>
              </a:rPr>
              <a:t>19.7%</a:t>
            </a:r>
            <a:endParaRPr sz="2400" b="1">
              <a:solidFill>
                <a:srgbClr val="CF3E4B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629400" y="2752725"/>
            <a:ext cx="1752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32238"/>
                </a:solidFill>
              </a:defRPr>
            </a:pPr>
            <a:r>
              <a:rPr sz="1275" b="1">
                <a:solidFill>
                  <a:srgbClr val="132238"/>
                </a:solidFill>
              </a:rPr>
              <a:t>面积保持 @32</a:t>
            </a:r>
            <a:endParaRPr sz="1275" b="1">
              <a:solidFill>
                <a:srgbClr val="132238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629400" y="3028950"/>
            <a:ext cx="17526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5F7185"/>
                </a:solidFill>
              </a:defRPr>
            </a:pPr>
            <a:r>
              <a:rPr sz="1050" b="0">
                <a:solidFill>
                  <a:srgbClr val="5F7185"/>
                </a:solidFill>
              </a:rPr>
              <a:t>多数强雨区消失</a:t>
            </a:r>
            <a:endParaRPr sz="1050" b="0">
              <a:solidFill>
                <a:srgbClr val="5F7185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8743950" y="2133600"/>
            <a:ext cx="2095500" cy="1257300"/>
          </a:xfrm>
          <a:prstGeom prst="roundRect">
            <a:avLst>
              <a:gd name="adj" fmla="val 9091"/>
            </a:avLst>
          </a:prstGeom>
          <a:solidFill>
            <a:srgbClr val="F5F9FD"/>
          </a:solidFill>
          <a:ln w="9525">
            <a:solidFill>
              <a:srgbClr val="D9E5F0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915400" y="2286000"/>
            <a:ext cx="1752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CF3E4B"/>
                </a:solidFill>
              </a:defRPr>
            </a:pPr>
            <a:r>
              <a:rPr sz="2400" b="1">
                <a:solidFill>
                  <a:srgbClr val="CF3E4B"/>
                </a:solidFill>
              </a:rPr>
              <a:t>17.5%</a:t>
            </a:r>
            <a:endParaRPr sz="2400" b="1">
              <a:solidFill>
                <a:srgbClr val="CF3E4B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915400" y="2752725"/>
            <a:ext cx="1752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32238"/>
                </a:solidFill>
              </a:defRPr>
            </a:pPr>
            <a:r>
              <a:rPr sz="1275" b="1">
                <a:solidFill>
                  <a:srgbClr val="132238"/>
                </a:solidFill>
              </a:rPr>
              <a:t>能量保持 @32</a:t>
            </a:r>
            <a:endParaRPr sz="1275" b="1">
              <a:solidFill>
                <a:srgbClr val="132238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915400" y="3028950"/>
            <a:ext cx="17526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5F7185"/>
                </a:solidFill>
              </a:defRPr>
            </a:pPr>
            <a:r>
              <a:rPr sz="1050" b="0">
                <a:solidFill>
                  <a:srgbClr val="5F7185"/>
                </a:solidFill>
              </a:rPr>
              <a:t>强度持续衰减</a:t>
            </a:r>
            <a:endParaRPr sz="1050" b="0">
              <a:solidFill>
                <a:srgbClr val="5F7185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85800" y="3905250"/>
            <a:ext cx="10153650" cy="19050"/>
          </a:xfrm>
          <a:prstGeom prst="rect">
            <a:avLst/>
          </a:prstGeom>
          <a:solidFill>
            <a:srgbClr val="D9E5F0"/>
          </a:solidFill>
          <a:ln w="0">
            <a:solidFill>
              <a:srgbClr val="D9E5F0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85800" y="417195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769D2"/>
                </a:solidFill>
              </a:defRPr>
            </a:pPr>
            <a:r>
              <a:rPr sz="1500" b="1">
                <a:solidFill>
                  <a:srgbClr val="1769D2"/>
                </a:solidFill>
              </a:rPr>
              <a:t>因果链</a:t>
            </a:r>
            <a:endParaRPr sz="1500" b="1">
              <a:solidFill>
                <a:srgbClr val="1769D2"/>
              </a:solidFill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1885950" y="4095750"/>
            <a:ext cx="1924050" cy="781050"/>
          </a:xfrm>
          <a:prstGeom prst="roundRect">
            <a:avLst>
              <a:gd name="adj" fmla="val 14634"/>
            </a:avLst>
          </a:prstGeom>
          <a:solidFill>
            <a:srgbClr val="F5F9FD"/>
          </a:solidFill>
          <a:ln w="9525">
            <a:solidFill>
              <a:srgbClr val="D9E5F0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2038350" y="4248150"/>
            <a:ext cx="1619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32238"/>
                </a:solidFill>
              </a:defRPr>
            </a:pPr>
            <a:r>
              <a:rPr sz="1350" b="1">
                <a:solidFill>
                  <a:srgbClr val="132238"/>
                </a:solidFill>
              </a:rPr>
              <a:t>20 步递归插值</a:t>
            </a:r>
            <a:endParaRPr sz="1350" b="1">
              <a:solidFill>
                <a:srgbClr val="132238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3829050" y="4286250"/>
            <a:ext cx="361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45A6E8"/>
                </a:solidFill>
              </a:defRPr>
            </a:pPr>
            <a:r>
              <a:rPr sz="2100" b="1">
                <a:solidFill>
                  <a:srgbClr val="45A6E8"/>
                </a:solidFill>
              </a:rPr>
              <a:t>→</a:t>
            </a:r>
            <a:endParaRPr sz="2100" b="1">
              <a:solidFill>
                <a:srgbClr val="45A6E8"/>
              </a:solidFill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4219575" y="4095750"/>
            <a:ext cx="1924050" cy="781050"/>
          </a:xfrm>
          <a:prstGeom prst="roundRect">
            <a:avLst>
              <a:gd name="adj" fmla="val 14634"/>
            </a:avLst>
          </a:prstGeom>
          <a:solidFill>
            <a:srgbClr val="F5F9FD"/>
          </a:solidFill>
          <a:ln w="9525">
            <a:solidFill>
              <a:srgbClr val="D9E5F0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4371975" y="4248150"/>
            <a:ext cx="1619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32238"/>
                </a:solidFill>
              </a:defRPr>
            </a:pPr>
            <a:r>
              <a:rPr sz="1350" b="1">
                <a:solidFill>
                  <a:srgbClr val="132238"/>
                </a:solidFill>
              </a:rPr>
              <a:t>强雨边缘被平滑</a:t>
            </a:r>
            <a:endParaRPr sz="1350" b="1">
              <a:solidFill>
                <a:srgbClr val="132238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162675" y="4286250"/>
            <a:ext cx="361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45A6E8"/>
                </a:solidFill>
              </a:defRPr>
            </a:pPr>
            <a:r>
              <a:rPr sz="2100" b="1">
                <a:solidFill>
                  <a:srgbClr val="45A6E8"/>
                </a:solidFill>
              </a:rPr>
              <a:t>→</a:t>
            </a:r>
            <a:endParaRPr sz="2100" b="1">
              <a:solidFill>
                <a:srgbClr val="45A6E8"/>
              </a:solidFill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6553200" y="4095750"/>
            <a:ext cx="1924050" cy="781050"/>
          </a:xfrm>
          <a:prstGeom prst="roundRect">
            <a:avLst>
              <a:gd name="adj" fmla="val 14634"/>
            </a:avLst>
          </a:prstGeom>
          <a:solidFill>
            <a:srgbClr val="F5F9FD"/>
          </a:solidFill>
          <a:ln w="9525">
            <a:solidFill>
              <a:srgbClr val="D9E5F0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6705600" y="4248150"/>
            <a:ext cx="1619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32238"/>
                </a:solidFill>
              </a:defRPr>
            </a:pPr>
            <a:r>
              <a:rPr sz="1350" b="1">
                <a:solidFill>
                  <a:srgbClr val="132238"/>
                </a:solidFill>
              </a:rPr>
              <a:t>面积与能量收缩</a:t>
            </a:r>
            <a:endParaRPr sz="1350" b="1">
              <a:solidFill>
                <a:srgbClr val="132238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496300" y="4286250"/>
            <a:ext cx="361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45A6E8"/>
                </a:solidFill>
              </a:defRPr>
            </a:pPr>
            <a:r>
              <a:rPr sz="2100" b="1">
                <a:solidFill>
                  <a:srgbClr val="45A6E8"/>
                </a:solidFill>
              </a:rPr>
              <a:t>→</a:t>
            </a:r>
            <a:endParaRPr sz="2100" b="1">
              <a:solidFill>
                <a:srgbClr val="45A6E8"/>
              </a:solidFill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8886825" y="4095750"/>
            <a:ext cx="1924050" cy="781050"/>
          </a:xfrm>
          <a:prstGeom prst="roundRect">
            <a:avLst>
              <a:gd name="adj" fmla="val 14634"/>
            </a:avLst>
          </a:prstGeom>
          <a:solidFill>
            <a:srgbClr val="EAF4FF"/>
          </a:solidFill>
          <a:ln w="19050">
            <a:solidFill>
              <a:srgbClr val="1769D2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9039225" y="4248150"/>
            <a:ext cx="1619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769D2"/>
                </a:solidFill>
              </a:defRPr>
            </a:pPr>
            <a:r>
              <a:rPr sz="1350" b="1">
                <a:solidFill>
                  <a:srgbClr val="1769D2"/>
                </a:solidFill>
              </a:rPr>
              <a:t>POD / CSI32 下降</a:t>
            </a:r>
            <a:endParaRPr sz="1350" b="1">
              <a:solidFill>
                <a:srgbClr val="1769D2"/>
              </a:solidFill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685800" y="5257800"/>
            <a:ext cx="10153650" cy="514350"/>
          </a:xfrm>
          <a:prstGeom prst="roundRect">
            <a:avLst>
              <a:gd name="adj" fmla="val 22222"/>
            </a:avLst>
          </a:prstGeom>
          <a:solidFill>
            <a:srgbClr val="0B2A4A"/>
          </a:solidFill>
          <a:ln w="0">
            <a:solidFill>
              <a:srgbClr val="0B2A4A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914400" y="5334000"/>
            <a:ext cx="9696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仅靠搬运无法维持或生成强降水：后续仍需要门控与强度源汇机制。</a:t>
            </a:r>
            <a:endParaRPr sz="1575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685800" y="3238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769D2"/>
                </a:solidFill>
              </a:defRPr>
            </a:pPr>
            <a:r>
              <a:rPr sz="1125" b="1">
                <a:solidFill>
                  <a:srgbClr val="1769D2"/>
                </a:solidFill>
              </a:rPr>
              <a:t>07 · 运动可辨识性</a:t>
            </a:r>
            <a:endParaRPr sz="1125" b="1">
              <a:solidFill>
                <a:srgbClr val="1769D2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62865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0B2A4A"/>
                </a:solidFill>
              </a:defRPr>
            </a:pPr>
            <a:r>
              <a:rPr sz="2550" b="1">
                <a:solidFill>
                  <a:srgbClr val="0B2A4A"/>
                </a:solidFill>
              </a:rPr>
              <a:t>运动方向有效，真正缺失的是“是否应该移动”</a:t>
            </a:r>
            <a:endParaRPr sz="2550" b="1">
              <a:solidFill>
                <a:srgbClr val="0B2A4A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295400"/>
            <a:ext cx="628650" cy="47625"/>
          </a:xfrm>
          <a:prstGeom prst="rect">
            <a:avLst/>
          </a:prstGeom>
          <a:solidFill>
            <a:srgbClr val="1769D2"/>
          </a:solidFill>
          <a:ln w="0">
            <a:solidFill>
              <a:srgbClr val="1769D2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6477000"/>
            <a:ext cx="457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0">
                <a:solidFill>
                  <a:srgbClr val="8292A4"/>
                </a:solidFill>
              </a:defRPr>
            </a:pPr>
            <a:r>
              <a:rPr sz="900" b="0">
                <a:solidFill>
                  <a:srgbClr val="8292A4"/>
                </a:solidFill>
              </a:rPr>
              <a:t>FLOW DIAGNOSTICS</a:t>
            </a:r>
            <a:endParaRPr sz="900" b="0">
              <a:solidFill>
                <a:srgbClr val="8292A4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64770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8292A4"/>
                </a:solidFill>
              </a:defRPr>
            </a:pPr>
            <a:r>
              <a:rPr sz="900" b="1">
                <a:solidFill>
                  <a:srgbClr val="8292A4"/>
                </a:solidFill>
              </a:rPr>
              <a:t>08</a:t>
            </a:r>
            <a:endParaRPr sz="900" b="1">
              <a:solidFill>
                <a:srgbClr val="8292A4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42950" y="180975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5F7185"/>
                </a:solidFill>
              </a:defRPr>
            </a:pPr>
            <a:r>
              <a:rPr sz="1275" b="1">
                <a:solidFill>
                  <a:srgbClr val="5F7185"/>
                </a:solidFill>
              </a:rPr>
              <a:t>真实运动类别</a:t>
            </a:r>
            <a:endParaRPr sz="1275" b="1">
              <a:solidFill>
                <a:srgbClr val="5F7185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762500" y="18097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5F7185"/>
                </a:solidFill>
              </a:defRPr>
            </a:pPr>
            <a:r>
              <a:rPr sz="1275" b="1">
                <a:solidFill>
                  <a:srgbClr val="5F7185"/>
                </a:solidFill>
              </a:rPr>
              <a:t>最佳流尺度 α</a:t>
            </a:r>
            <a:endParaRPr sz="1275" b="1">
              <a:solidFill>
                <a:srgbClr val="5F7185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0" y="18097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5F7185"/>
                </a:solidFill>
              </a:defRPr>
            </a:pPr>
            <a:r>
              <a:rPr sz="1275" b="1">
                <a:solidFill>
                  <a:srgbClr val="5F7185"/>
                </a:solidFill>
              </a:rPr>
              <a:t>诊断解释</a:t>
            </a:r>
            <a:endParaRPr sz="1275" b="1">
              <a:solidFill>
                <a:srgbClr val="5F7185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85800" y="2190750"/>
            <a:ext cx="10096500" cy="552450"/>
          </a:xfrm>
          <a:prstGeom prst="roundRect">
            <a:avLst>
              <a:gd name="adj" fmla="val 20690"/>
            </a:avLst>
          </a:prstGeom>
          <a:solidFill>
            <a:srgbClr val="EAF4FF"/>
          </a:solidFill>
          <a:ln w="9525">
            <a:solidFill>
              <a:srgbClr val="D9E5F0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95350" y="2286000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0B2A4A"/>
                </a:solidFill>
              </a:defRPr>
            </a:pPr>
            <a:r>
              <a:rPr sz="1425" b="1">
                <a:solidFill>
                  <a:srgbClr val="0B2A4A"/>
                </a:solidFill>
              </a:rPr>
              <a:t>近静止 &lt;0.2 px</a:t>
            </a:r>
            <a:endParaRPr sz="1425" b="1">
              <a:solidFill>
                <a:srgbClr val="0B2A4A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933950" y="228600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CF3E4B"/>
                </a:solidFill>
              </a:defRPr>
            </a:pPr>
            <a:r>
              <a:rPr sz="1650" b="1">
                <a:solidFill>
                  <a:srgbClr val="CF3E4B"/>
                </a:solidFill>
              </a:rPr>
              <a:t>0</a:t>
            </a:r>
            <a:endParaRPr sz="1650" b="1">
              <a:solidFill>
                <a:srgbClr val="CF3E4B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810500" y="2286000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32238"/>
                </a:solidFill>
              </a:defRPr>
            </a:pPr>
            <a:r>
              <a:rPr sz="1350" b="0">
                <a:solidFill>
                  <a:srgbClr val="132238"/>
                </a:solidFill>
              </a:rPr>
              <a:t>不应搬运</a:t>
            </a:r>
            <a:endParaRPr sz="1350" b="0">
              <a:solidFill>
                <a:srgbClr val="132238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85800" y="2914650"/>
            <a:ext cx="10096500" cy="552450"/>
          </a:xfrm>
          <a:prstGeom prst="roundRect">
            <a:avLst>
              <a:gd name="adj" fmla="val 20690"/>
            </a:avLst>
          </a:prstGeom>
          <a:solidFill>
            <a:srgbClr val="F5F9FD"/>
          </a:solidFill>
          <a:ln w="9525">
            <a:solidFill>
              <a:srgbClr val="D9E5F0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95350" y="3009900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0B2A4A"/>
                </a:solidFill>
              </a:defRPr>
            </a:pPr>
            <a:r>
              <a:rPr sz="1425" b="1">
                <a:solidFill>
                  <a:srgbClr val="0B2A4A"/>
                </a:solidFill>
              </a:rPr>
              <a:t>亚像素 0.2–0.5 px</a:t>
            </a:r>
            <a:endParaRPr sz="1425" b="1">
              <a:solidFill>
                <a:srgbClr val="0B2A4A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933950" y="300990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769D2"/>
                </a:solidFill>
              </a:defRPr>
            </a:pPr>
            <a:r>
              <a:rPr sz="1650" b="1">
                <a:solidFill>
                  <a:srgbClr val="1769D2"/>
                </a:solidFill>
              </a:rPr>
              <a:t>0.5</a:t>
            </a:r>
            <a:endParaRPr sz="1650" b="1">
              <a:solidFill>
                <a:srgbClr val="1769D2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810500" y="3009900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32238"/>
                </a:solidFill>
              </a:defRPr>
            </a:pPr>
            <a:r>
              <a:rPr sz="1350" b="0">
                <a:solidFill>
                  <a:srgbClr val="132238"/>
                </a:solidFill>
              </a:rPr>
              <a:t>需要减弱</a:t>
            </a:r>
            <a:endParaRPr sz="1350" b="0">
              <a:solidFill>
                <a:srgbClr val="132238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685800" y="3638550"/>
            <a:ext cx="10096500" cy="552450"/>
          </a:xfrm>
          <a:prstGeom prst="roundRect">
            <a:avLst>
              <a:gd name="adj" fmla="val 20690"/>
            </a:avLst>
          </a:prstGeom>
          <a:solidFill>
            <a:srgbClr val="F5F9FD"/>
          </a:solidFill>
          <a:ln w="9525">
            <a:solidFill>
              <a:srgbClr val="D9E5F0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95350" y="3733800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0B2A4A"/>
                </a:solidFill>
              </a:defRPr>
            </a:pPr>
            <a:r>
              <a:rPr sz="1425" b="1">
                <a:solidFill>
                  <a:srgbClr val="0B2A4A"/>
                </a:solidFill>
              </a:rPr>
              <a:t>明显移动 0.5–1 px</a:t>
            </a:r>
            <a:endParaRPr sz="1425" b="1">
              <a:solidFill>
                <a:srgbClr val="0B2A4A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933950" y="373380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769D2"/>
                </a:solidFill>
              </a:defRPr>
            </a:pPr>
            <a:r>
              <a:rPr sz="1650" b="1">
                <a:solidFill>
                  <a:srgbClr val="1769D2"/>
                </a:solidFill>
              </a:rPr>
              <a:t>1.0</a:t>
            </a:r>
            <a:endParaRPr sz="1650" b="1">
              <a:solidFill>
                <a:srgbClr val="1769D2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810500" y="3733800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32238"/>
                </a:solidFill>
              </a:defRPr>
            </a:pPr>
            <a:r>
              <a:rPr sz="1350" b="0">
                <a:solidFill>
                  <a:srgbClr val="132238"/>
                </a:solidFill>
              </a:rPr>
              <a:t>保留完整流</a:t>
            </a:r>
            <a:endParaRPr sz="1350" b="0">
              <a:solidFill>
                <a:srgbClr val="132238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685800" y="4362450"/>
            <a:ext cx="10096500" cy="552450"/>
          </a:xfrm>
          <a:prstGeom prst="roundRect">
            <a:avLst>
              <a:gd name="adj" fmla="val 20690"/>
            </a:avLst>
          </a:prstGeom>
          <a:solidFill>
            <a:srgbClr val="F5F9FD"/>
          </a:solidFill>
          <a:ln w="9525">
            <a:solidFill>
              <a:srgbClr val="D9E5F0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95350" y="4457700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0B2A4A"/>
                </a:solidFill>
              </a:defRPr>
            </a:pPr>
            <a:r>
              <a:rPr sz="1425" b="1">
                <a:solidFill>
                  <a:srgbClr val="0B2A4A"/>
                </a:solidFill>
              </a:rPr>
              <a:t>快速 / 困难 &gt;1 px</a:t>
            </a:r>
            <a:endParaRPr sz="1425" b="1">
              <a:solidFill>
                <a:srgbClr val="0B2A4A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933950" y="445770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769D2"/>
                </a:solidFill>
              </a:defRPr>
            </a:pPr>
            <a:r>
              <a:rPr sz="1650" b="1">
                <a:solidFill>
                  <a:srgbClr val="1769D2"/>
                </a:solidFill>
              </a:rPr>
              <a:t>1.25</a:t>
            </a:r>
            <a:endParaRPr sz="1650" b="1">
              <a:solidFill>
                <a:srgbClr val="1769D2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810500" y="4457700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32238"/>
                </a:solidFill>
              </a:defRPr>
            </a:pPr>
            <a:r>
              <a:rPr sz="1350" b="0">
                <a:solidFill>
                  <a:srgbClr val="132238"/>
                </a:solidFill>
              </a:rPr>
              <a:t>可能低估幅度</a:t>
            </a:r>
            <a:endParaRPr sz="1350" b="0">
              <a:solidFill>
                <a:srgbClr val="132238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685800" y="5334000"/>
            <a:ext cx="3143250" cy="1257300"/>
          </a:xfrm>
          <a:prstGeom prst="roundRect">
            <a:avLst>
              <a:gd name="adj" fmla="val 9091"/>
            </a:avLst>
          </a:prstGeom>
          <a:solidFill>
            <a:srgbClr val="F5F9FD"/>
          </a:solidFill>
          <a:ln w="9525">
            <a:solidFill>
              <a:srgbClr val="D9E5F0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57250" y="5486400"/>
            <a:ext cx="2800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16876C"/>
                </a:solidFill>
              </a:defRPr>
            </a:pPr>
            <a:r>
              <a:rPr sz="2400" b="1">
                <a:solidFill>
                  <a:srgbClr val="16876C"/>
                </a:solidFill>
              </a:rPr>
              <a:t>86%–91%</a:t>
            </a:r>
            <a:endParaRPr sz="2400" b="1">
              <a:solidFill>
                <a:srgbClr val="16876C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57250" y="5953125"/>
            <a:ext cx="2800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32238"/>
                </a:solidFill>
              </a:defRPr>
            </a:pPr>
            <a:r>
              <a:rPr sz="1275" b="1">
                <a:solidFill>
                  <a:srgbClr val="132238"/>
                </a:solidFill>
              </a:rPr>
              <a:t>移动对象方向正确率</a:t>
            </a:r>
            <a:endParaRPr sz="1275" b="1">
              <a:solidFill>
                <a:srgbClr val="132238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57250" y="6229350"/>
            <a:ext cx="28003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5F7185"/>
                </a:solidFill>
              </a:defRPr>
            </a:pPr>
            <a:r>
              <a:rPr sz="1050" b="0">
                <a:solidFill>
                  <a:srgbClr val="5F7185"/>
                </a:solidFill>
              </a:rPr>
              <a:t>正确半平面</a:t>
            </a:r>
            <a:endParaRPr sz="1050" b="0">
              <a:solidFill>
                <a:srgbClr val="5F7185"/>
              </a:solidFill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4057650" y="5238750"/>
            <a:ext cx="6724650" cy="876300"/>
          </a:xfrm>
          <a:prstGeom prst="roundRect">
            <a:avLst>
              <a:gd name="adj" fmla="val 13043"/>
            </a:avLst>
          </a:prstGeom>
          <a:solidFill>
            <a:srgbClr val="0B2A4A"/>
          </a:solidFill>
          <a:ln w="0">
            <a:solidFill>
              <a:srgbClr val="0B2A4A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4286250" y="5505450"/>
            <a:ext cx="781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45A6E8"/>
                </a:solidFill>
              </a:defRPr>
            </a:pPr>
            <a:r>
              <a:rPr sz="1275" b="1">
                <a:solidFill>
                  <a:srgbClr val="45A6E8"/>
                </a:solidFill>
              </a:rPr>
              <a:t>结论</a:t>
            </a:r>
            <a:endParaRPr sz="1275" b="1">
              <a:solidFill>
                <a:srgbClr val="45A6E8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5143500" y="5353050"/>
            <a:ext cx="5334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需要条件化运动置信度，</a:t>
            </a:r>
            <a:endParaRPr sz="1500" b="1">
              <a:solidFill>
                <a:srgbClr val="FFFFFF"/>
              </a:solidFill>
            </a:endParaRPr>
          </a:p>
          <a:p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而不是永久乘一个固定小尺度。</a:t>
            </a:r>
            <a:endParaRPr sz="15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矩形 24"/>
          <p:cNvSpPr>
            <a:spLocks noGrp="1"/>
          </p:cNvSpPr>
          <p:nvPr/>
        </p:nvSpPr>
        <p:spPr>
          <a:xfrm>
            <a:off x="685800" y="3238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769D2"/>
                </a:solidFill>
              </a:defRPr>
            </a:pPr>
            <a:r>
              <a:rPr sz="1125" b="1">
                <a:solidFill>
                  <a:srgbClr val="1769D2"/>
                </a:solidFill>
              </a:rPr>
              <a:t>09 · 下一步</a:t>
            </a:r>
            <a:endParaRPr sz="1125" b="1">
              <a:solidFill>
                <a:srgbClr val="1769D2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62865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0B2A4A"/>
                </a:solidFill>
              </a:defRPr>
            </a:pPr>
            <a:r>
              <a:rPr sz="2550" b="1">
                <a:solidFill>
                  <a:srgbClr val="0B2A4A"/>
                </a:solidFill>
              </a:rPr>
              <a:t>下周先解决运动置信度，再引入强度源汇机制</a:t>
            </a:r>
            <a:endParaRPr sz="2550" b="1">
              <a:solidFill>
                <a:srgbClr val="0B2A4A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295400"/>
            <a:ext cx="628650" cy="47625"/>
          </a:xfrm>
          <a:prstGeom prst="rect">
            <a:avLst/>
          </a:prstGeom>
          <a:solidFill>
            <a:srgbClr val="1769D2"/>
          </a:solidFill>
          <a:ln w="0">
            <a:solidFill>
              <a:srgbClr val="1769D2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6477000"/>
            <a:ext cx="457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0">
                <a:solidFill>
                  <a:srgbClr val="8292A4"/>
                </a:solidFill>
              </a:defRPr>
            </a:pPr>
            <a:r>
              <a:rPr sz="900" b="0">
                <a:solidFill>
                  <a:srgbClr val="8292A4"/>
                </a:solidFill>
              </a:rPr>
              <a:t>NEXT STEPS</a:t>
            </a:r>
            <a:endParaRPr sz="900" b="0">
              <a:solidFill>
                <a:srgbClr val="8292A4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64770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8292A4"/>
                </a:solidFill>
              </a:defRPr>
            </a:pPr>
            <a:r>
              <a:rPr lang="en-US" sz="900" b="1">
                <a:solidFill>
                  <a:srgbClr val="8292A4"/>
                </a:solidFill>
              </a:rPr>
              <a:t>09</a:t>
            </a:r>
            <a:endParaRPr lang="en-US" sz="900" b="1">
              <a:solidFill>
                <a:srgbClr val="8292A4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175260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1769D2"/>
                </a:solidFill>
              </a:defRPr>
            </a:pPr>
            <a:r>
              <a:rPr sz="1800" b="1">
                <a:solidFill>
                  <a:srgbClr val="1769D2"/>
                </a:solidFill>
              </a:rPr>
              <a:t>01</a:t>
            </a:r>
            <a:endParaRPr sz="1800" b="1">
              <a:solidFill>
                <a:srgbClr val="1769D2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352550" y="2000250"/>
            <a:ext cx="495300" cy="28575"/>
          </a:xfrm>
          <a:prstGeom prst="rect">
            <a:avLst/>
          </a:prstGeom>
          <a:solidFill>
            <a:srgbClr val="D9E5F0"/>
          </a:solidFill>
          <a:ln w="0">
            <a:solidFill>
              <a:srgbClr val="D9E5F0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2076450" y="17526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B2A4A"/>
                </a:solidFill>
              </a:defRPr>
            </a:pPr>
            <a:r>
              <a:rPr sz="1500" b="1">
                <a:solidFill>
                  <a:srgbClr val="0B2A4A"/>
                </a:solidFill>
              </a:rPr>
              <a:t>增强门控输入</a:t>
            </a:r>
            <a:endParaRPr sz="1500" b="1">
              <a:solidFill>
                <a:srgbClr val="0B2A4A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048250" y="1752600"/>
            <a:ext cx="571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F7185"/>
                </a:solidFill>
              </a:defRPr>
            </a:pPr>
            <a:r>
              <a:rPr sz="1350" b="0">
                <a:solidFill>
                  <a:srgbClr val="5F7185"/>
                </a:solidFill>
              </a:rPr>
              <a:t>加入历史差分与固定光流线索</a:t>
            </a:r>
            <a:endParaRPr sz="1350" b="0">
              <a:solidFill>
                <a:srgbClr val="5F7185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85800" y="257175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1769D2"/>
                </a:solidFill>
              </a:defRPr>
            </a:pPr>
            <a:r>
              <a:rPr sz="1800" b="1">
                <a:solidFill>
                  <a:srgbClr val="1769D2"/>
                </a:solidFill>
              </a:rPr>
              <a:t>02</a:t>
            </a:r>
            <a:endParaRPr sz="1800" b="1">
              <a:solidFill>
                <a:srgbClr val="1769D2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352550" y="2819400"/>
            <a:ext cx="495300" cy="28575"/>
          </a:xfrm>
          <a:prstGeom prst="rect">
            <a:avLst/>
          </a:prstGeom>
          <a:solidFill>
            <a:srgbClr val="D9E5F0"/>
          </a:solidFill>
          <a:ln w="0">
            <a:solidFill>
              <a:srgbClr val="D9E5F0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2076450" y="25717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B2A4A"/>
                </a:solidFill>
              </a:defRPr>
            </a:pPr>
            <a:r>
              <a:rPr sz="1500" b="1">
                <a:solidFill>
                  <a:srgbClr val="0B2A4A"/>
                </a:solidFill>
              </a:rPr>
              <a:t>条件化运动幅度</a:t>
            </a:r>
            <a:endParaRPr sz="1500" b="1">
              <a:solidFill>
                <a:srgbClr val="0B2A4A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048250" y="2571750"/>
            <a:ext cx="571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F7185"/>
                </a:solidFill>
              </a:defRPr>
            </a:pPr>
            <a:r>
              <a:rPr sz="1350" b="0">
                <a:solidFill>
                  <a:srgbClr val="5F7185"/>
                </a:solidFill>
              </a:rPr>
              <a:t>分样本、分时效或空间化置信度</a:t>
            </a:r>
            <a:endParaRPr sz="1350" b="0">
              <a:solidFill>
                <a:srgbClr val="5F7185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85800" y="339090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1769D2"/>
                </a:solidFill>
              </a:defRPr>
            </a:pPr>
            <a:r>
              <a:rPr sz="1800" b="1">
                <a:solidFill>
                  <a:srgbClr val="1769D2"/>
                </a:solidFill>
              </a:rPr>
              <a:t>03</a:t>
            </a:r>
            <a:endParaRPr sz="1800" b="1">
              <a:solidFill>
                <a:srgbClr val="1769D2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352550" y="3638550"/>
            <a:ext cx="495300" cy="28575"/>
          </a:xfrm>
          <a:prstGeom prst="rect">
            <a:avLst/>
          </a:prstGeom>
          <a:solidFill>
            <a:srgbClr val="D9E5F0"/>
          </a:solidFill>
          <a:ln w="0">
            <a:solidFill>
              <a:srgbClr val="D9E5F0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2076450" y="33909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B2A4A"/>
                </a:solidFill>
              </a:defRPr>
            </a:pPr>
            <a:r>
              <a:rPr sz="1500" b="1">
                <a:solidFill>
                  <a:srgbClr val="0B2A4A"/>
                </a:solidFill>
              </a:rPr>
              <a:t>统一两类检验</a:t>
            </a:r>
            <a:endParaRPr sz="1500" b="1">
              <a:solidFill>
                <a:srgbClr val="0B2A4A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048250" y="3390900"/>
            <a:ext cx="571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F7185"/>
                </a:solidFill>
              </a:defRPr>
            </a:pPr>
            <a:r>
              <a:rPr sz="1350" b="0">
                <a:solidFill>
                  <a:srgbClr val="5F7185"/>
                </a:solidFill>
              </a:rPr>
              <a:t>Teacher-forced 与 20 步递归同步评估</a:t>
            </a:r>
            <a:endParaRPr sz="1350" b="0">
              <a:solidFill>
                <a:srgbClr val="5F7185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85800" y="421005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1769D2"/>
                </a:solidFill>
              </a:defRPr>
            </a:pPr>
            <a:r>
              <a:rPr sz="1800" b="1">
                <a:solidFill>
                  <a:srgbClr val="1769D2"/>
                </a:solidFill>
              </a:rPr>
              <a:t>04</a:t>
            </a:r>
            <a:endParaRPr sz="1800" b="1">
              <a:solidFill>
                <a:srgbClr val="1769D2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352550" y="4457700"/>
            <a:ext cx="495300" cy="28575"/>
          </a:xfrm>
          <a:prstGeom prst="rect">
            <a:avLst/>
          </a:prstGeom>
          <a:solidFill>
            <a:srgbClr val="45A6E8"/>
          </a:solidFill>
          <a:ln w="0">
            <a:solidFill>
              <a:srgbClr val="45A6E8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2076450" y="42100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B2A4A"/>
                </a:solidFill>
              </a:defRPr>
            </a:pPr>
            <a:r>
              <a:rPr sz="1500" b="1">
                <a:solidFill>
                  <a:srgbClr val="0B2A4A"/>
                </a:solidFill>
              </a:rPr>
              <a:t>通过后进入 R4-c</a:t>
            </a:r>
            <a:endParaRPr sz="1500" b="1">
              <a:solidFill>
                <a:srgbClr val="0B2A4A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048250" y="4210050"/>
            <a:ext cx="571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F7185"/>
                </a:solidFill>
              </a:defRPr>
            </a:pPr>
            <a:r>
              <a:rPr sz="1350" b="0">
                <a:solidFill>
                  <a:srgbClr val="5F7185"/>
                </a:solidFill>
              </a:rPr>
              <a:t>加入 source / sink 或强度修正分支</a:t>
            </a:r>
            <a:endParaRPr sz="1350" b="0">
              <a:solidFill>
                <a:srgbClr val="5F7185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685800" y="5143500"/>
            <a:ext cx="10096500" cy="857250"/>
          </a:xfrm>
          <a:prstGeom prst="roundRect">
            <a:avLst>
              <a:gd name="adj" fmla="val 13333"/>
            </a:avLst>
          </a:prstGeom>
          <a:solidFill>
            <a:srgbClr val="0B2A4A"/>
          </a:solidFill>
          <a:ln w="0">
            <a:solidFill>
              <a:srgbClr val="0B2A4A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14400" y="5429250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45A6E8"/>
                </a:solidFill>
              </a:defRPr>
            </a:pPr>
            <a:r>
              <a:rPr sz="1275" b="1">
                <a:solidFill>
                  <a:srgbClr val="45A6E8"/>
                </a:solidFill>
              </a:rPr>
              <a:t>本周结论</a:t>
            </a:r>
            <a:endParaRPr sz="1275" b="1">
              <a:solidFill>
                <a:srgbClr val="45A6E8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2266950" y="5238750"/>
            <a:ext cx="8191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显式运动能够改善定位；下一步成败取决于门控能否同时保护</a:t>
            </a:r>
            <a:endParaRPr sz="1500" b="1">
              <a:solidFill>
                <a:srgbClr val="FFFFFF"/>
              </a:solidFill>
            </a:endParaRPr>
          </a:p>
          <a:p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近静止对象与长时强降水。</a:t>
            </a:r>
            <a:endParaRPr sz="15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1720</Words>
  <Application>WPS 演示</Application>
  <PresentationFormat>Converted Presentation</PresentationFormat>
  <Paragraphs>332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Arial</vt:lpstr>
      <vt:lpstr>宋体</vt:lpstr>
      <vt:lpstr>Wingdings</vt:lpstr>
      <vt:lpstr>Calibri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柴欣然</cp:lastModifiedBy>
  <cp:revision>1</cp:revision>
  <dcterms:created xsi:type="dcterms:W3CDTF">2026-08-02T06:09:23Z</dcterms:created>
  <dcterms:modified xsi:type="dcterms:W3CDTF">2026-08-02T06:09:23Z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60104F529A52411D8E331EA1E48CFB52_12</vt:lpwstr>
  </property>
  <property fmtid="{D5CDD505-2E9C-101B-9397-08002B2CF9AE}" pid="3" name="KSOProductBuildVer">
    <vt:lpwstr>2052-12.1.0.24034</vt:lpwstr>
  </property>
</Properties>
</file>